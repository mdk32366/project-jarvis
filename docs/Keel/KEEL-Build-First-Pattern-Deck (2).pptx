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Welcome them. The one line to land: today is not about becoming a programmer — it's about a DISCIPLINE for building with AI tools, and that discipline is something a long career already gave you.
Say KEEL out loud and let it sit. "On a boat, the keel is the first timber laid and the spine that keeps her upright. We lay the keel of a software project the same way — first, before anything else. That's the whole idea in one word."
Timing: ~1 min. Don't over-explain yet; the next slides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anchor for the whole session. Aviation checklists come from crash reports. Every 'always' and 'never' a pilot follows was written because someone died not following it.
Say: "Every rule I'm about to give you, I learned by getting hurt. These aren't my opinions. They're scars. When you see the red boxes later, that's a real thing that cost us real time."
This earns you the right to give them rules without arguing every one. Timing: ~45 sec. Let the quote breathe before you click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for why they belong here. AI tools now let one person build what took a whole team — that's real, and it's why we're excited. But the same speed tempts people to skip foundations.
Walk the three cards as real failures (they're all things that happened to us this week): a copy of the work vanished; broken code shipped and nobody knew; a decision agreed in a chat was lost.
Land the bottom line: the winners here aren't the fast typists — they're the ones with the judgment to insist on solid ground. THAT is the asset a long career gave this room. Reassure them: you don't need to type fast or know how to code. You need judgment, which you have.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rule. If they remember one slide, this is it.
Quick plain-language definitions — assume they know none of these:
• VERSION CONTROL: a system (we use one called 'git') that saves every version of your work and keeps one true master copy online. Like Track Changes, but for a whole project, and impossible to lose.
• AUTOMATED TESTING: small checks that run by themselves and confirm your work still does what it should.
• AUTOMATED DEPLOYMENT: 'deploy' means push your work out to where people actually use it (the live website/app). Automated = it happens by itself when you approve work, not by hand.
The move: lay all three FIRST — before you plan features, before you dream with the AI. 30 seconds on day one vs. a miserable retrofit on day ninety.
Timing: ~2 min. This is worth going slow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gear-change slide. Tell them this is the single most confusing thing for beginners, and if they get it now, everything else is easy.
The two AIs: one you PLAN with, one you BUILD with. They see your work completely differently. Next slide shows how. Timing: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cards slowly — this is the mental model everything rests on.
THE PLANNER = your AI chat in a browser (Claude or Grok), inside a 'Project' workspace. It sees NOTHING of your code unless you hand it something. That distance makes it great for THINKING: designing, planning, catching mistakes.
THE BUILDER = the AI tool on your laptop (Claude Code, or Grok's builder). It works AS YOU — sees all your files, can edit and ship. Great for DOING.
Analogy that lands: the Planner is the architect at the drafting table (can't pour concrete); the Builder is the crew on site (shouldn't redesign the house). You want both, doing their own jobs.
The punch line at the bottom is the keeper. Timing: ~2–3 min — spend it, this pays off all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Clears up a fear before it forms. Beginners think 'private' means their AI helper won't be able to see the work. Not so.
Definitions:
• REPOSITORY ('repo'): the online home of your project — all its files and their full history — stored on a site called GitHub.
• PRIVATE vs PUBLIC: private = only you (and tools logged in as you) can see it. Public = the entire internet can read it.
The key point: your Builder logs in AS YOU, so it sees your private repo fine. Private only shuts out strangers. Never make a repo public to 'help' a tool — you'd expose your work to the world for no reason.
Timing: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session. Seven rules, each with a red 'paid for in blood' box — a real thing that hurt us.
Tell them: you don't need to memorize these. They live on the checklist. Right now, just absorb the shape and the scars. Timing: ~20 sec,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1–2.
#1 ONE CANONICAL COPY: 'canonical' just means the one official master. Keep exactly ONE true copy of your project (online, version-controlled). No 'final_v2' folders, no backup-of-a-backup. Our scar: we had FOURTEEN near-identical folders and a feature that lived only on the running server — one crash from gone.
#2 TESTS GUARD DEPLOYMENT: 'deployment' = pushing work out to the live system. A broken build must be physically unable to reach it — automatically, not by you remembering to check. Our scar: for weeks anything could reach production, working or not.
Timing: ~2 min for the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3–4.
#3 DEPLOYMENT IS AUTOMATED: shipping should happen by APPROVING work (merging it), not by you typing a deploy command and hoping. Our scar: we deployed by hand for weeks while the automatic system we THOUGHT we had was silently broken.
#4 SECRETS LIVE IN THE PLATFORM: a 'secret' = a password, key, or access token. These live in the hosting platform's secure settings, referenced by name — NEVER typed into a file or pasted into a chat. Our scar: one secret saved under the wrong name silently killed the whole deploy for an afternoon. ('Committed' means saved into the project's permanent history — a leaked secret there is very hard to take back.)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5–6.
#5 SELF-CONTAINED TESTS: the checks should run in their own little sealed world — no internet, no real services needed. That's what makes them instant and free. Do this one FIRST; it makes everything else easy. (This is the one we got RIGHT early.)
#6 PROVE THE NET BY TRIPPING IT: on day one, deliberately break something and WATCH the system refuse to ship it. A safety net you've never seen catch anything is just a hope. This is the principle the live demo makes real — tease it here: 'I'm going to show you this one live in a few minutes.'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7 — the one people skip and regret.
WRITE THE DECISION DOWN: when you and the AI decide something ('we'll do it THIS way, because…'), write it into the project's docs folder before the work counts as done. A decision that lives only in a chat window effectively doesn't exist — you can't find it, and the chat gets deleted.
Our scar: a decision we never wrote down came back a day later as a confident but WRONG memory, and sent us chasing a bug we'd already fixed. The sessions we DID write up, we walked back into sharp the next morning.
This connects to the Daily Rituals slide coming up.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moment. If you're running the LIVE demo, this slide is your backup — switch to your screen now and run the 'Trip the Gate' script. If you're staying on slides, walk these four boxes as the story.
Plain-language setup: a 'test' is a small automatic check. A 'branch' is a safe side-copy of your work where you can try things without touching the master. When you 'push', you send it up to GitHub, which automatically runs the tests.
The four moves: (1) break a test on purpose, (2) watch the system REFUSE to deploy — red X, deploy skipped, (3) fix it, (4) watch it ship — green, deploy runs. The contrast between the red and the green IS the lesson.
Pause on move 2. Let them see broken code get stopped. Then land the bottom line. Timing: ~3–4 min live, ~2 min on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clever part of the whole method — the bit that's specific to building with AI.
The honest truth: the temptation to skip the foundation is STRONGEST right when you start planning with the AI, because planning is the fun part and the foundation feels like a detour. Willpower loses that fight. So don't rely on willpower.
Two defenses: (1) make starting right take 30 seconds — a template so the correct way is the EASY way; (2) give the AI a standing order — literally tell it at the start of every project: 'before we design anything, confirm the Keel is laid, and if it isn't, stop and lay it first.' Now the AI itself refuses to let you skip.
You turn the thing that tempts you into the thing that guards you.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work a project over WEEKS — the question everyone actually has.
Name the trap first: the temptation is to keep ONE chat open for days, afraid the AI will forget everything if you close it. That backfires — AI chats have limited memory and quietly forget the OLDEST stuff first, so a days-long chat forgets your important early decisions while keeping this morning's trivia. It gets slower and dumber, and your whole project history is trapped in a chat you're scared to close.
The freedom: your memory doesn't live in the chat — it lives in the REPO (the docs, the code, the close-out notes). So you can close every chat with zero fear and start fresh daily.
Two rituals, like a pilot's checklist. POST-FLIGHT (end of day): have the AI write a 'close-out' — what got done, what's next — and save it. PRE-FLIGHT (start of day): brand-new chat, hand it a fresh snapshot of your code plus yesterday's close-out, ask 'where are we?'. ('git archive' just makes a dated zip of your project to hand over.)
Timing: ~2–3 min. This genuinely changes how they'll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heart-of-it slide, right before the close. Slow down and mean it.
None of this was about being a programmer. It was about refusing to build on sand, insisting on ground truth before you act, and writing down your reasoning so it outlives the moment. That is JUDGMENT.
And judgment is exactly what decades of real work give a person. The message for this room: your experience isn't a disadvantage in the AI era — it's the whole edge. The tools finally reward the thing you already have.
Timing: ~1 min. This sets up the final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intellectual spine of the whole talk. Say it in full:
The AI tooling inverts the economics of the discipline. Historically, doing SDLC properly was expensive — writing tests first, documenting decisions, setting up the gate on day one all cost senior-engineer hours that a deadline-driven shop wouldn't spend. So it got skipped, and the skip was almost rational.
But when the Builder can scaffold the hermetic test suite in a minute, write the tests from your design before the code, and generate the close-out doc for free — the cost of the discipline collapses toward zero while its value stays exactly as high. The thing that made rigor a luxury just became nearly free.
The line to land, slowly: most people are using AI to skip the discipline faster. We've worked out how to use it to afford the discipline for the first time. That is the reversal. Set it down gently — the next slides build on it.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distinct point, and a strong one for THIS room — several of them have lived inside corporate process-theater and will feel this in their bones.
There’s a quieter reason this version works where corporate SDLC calcifies into ceremony. In a big company, ‘process’ becomes a thing done TO engineers — sign-off gates, mandatory fields, rituals nobody believes in. People comply, or quietly route around it.
What we built is process an individual runs FOR THEMSELVES, because each step visibly saves them from a specific pain they’ve felt. Every principle in KEEL has a scar under it. That’s why it actually gets followed: it’s not compliance, it’s self-interest made legible. The checklist works because a person who’s lost a feature to a vanished folder WANTS the one-canonical-copy rule — not because a manager mandated it.
You can invite them: ‘think of the process at your own job that everyone ignores. This is the opposite of that, and here’s why it sticks.’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bravest slide, and the one that earns you the most trust from experienced people — who have been sold silver bullets before. Say it straight:
I’d rather give you honesty than applause. This pattern is proven on ONE system — JARVIS: a real, deployed, multi-service application I fixed a live bug in and shipped a whole memory subsystem to, all through the gate, in a couple of days. That’s genuine evidence, not theory. But it’s one project, mine, with me as the whole team.
The next ones — retrofitting existing projects onto this foundation — are where it gets tested against friction I didn’t design around: an existing codebase, its accumulated mess, maybe a place where the hermetic-tests rule is genuinely hard. That’s not a reason to doubt it. It’s the reason the migration guide gets proven twice before I hand it to you as settled.
Taught as what it is — battle-tested on one real system, being validated on more — it’s more credible than any claim of universal truth. This grounds everything. It makes the NEXT slide honest instead of hype.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whole talk. Speak it from your own chest — it's true for you, and it will be true for the room. Nearly verbatim, the way it arrived:
"Here's what the reversal of economics actually means. At sixty, because of it, I am as fit — or MORE fit — than any peer at bringing an idea all the way to an application that is stable and sustainable. Not a prototype. Not a demo. A real thing that holds.
The tools used to reward the fastest typist, the youngest hands, the person who could grind the most hours. That was never our edge. But they don't reward that anymore. They reward judgment — knowing what to build, refusing to build on sand, insisting on ground truth before you act, writing down your reasoning so it outlives the moment. And judgment is the one thing a long life of work actually gives you.
Our experience was supposed to be the thing that dated us. It turns out to be the whole edge. The tools finally caught up to the people who have it."
Don't rush this. Let it be quiet. If you feel it, let them see that you feel it — that's not weakness in front of this room, it's the truest thing you'll say all day. Then click to the last slide.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After the 'at sixty' slide, this is the exhale — the call to action. Short.
Recap in one breath only if you need it: lay the Keel before you build; Planner to think, Builder to do; write decisions down; start fresh each day from the repo.
Then the last line — and mean 'whole career.' For this room that's not a figure of speech. Hand them the checklist and the card. Point them at the demo-repo guide if they want to try it themselves.
End on the line. Let it land. Don't talk past it. Timing: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3" name="Shape 0"/>
          <p:cNvSpPr/>
          <p:nvPr/>
        </p:nvSpPr>
        <p:spPr>
          <a:xfrm>
            <a:off x="0" y="0"/>
            <a:ext cx="12161520" cy="6858000"/>
          </a:xfrm>
          <a:prstGeom prst="rect">
            <a:avLst/>
          </a:prstGeom>
          <a:solidFill>
            <a:srgbClr val="1F3A5F"/>
          </a:solidFill>
          <a:ln/>
        </p:spPr>
      </p:sp>
      <p:sp>
        <p:nvSpPr>
          <p:cNvPr id="4" name="Text 1"/>
          <p:cNvSpPr/>
          <p:nvPr/>
        </p:nvSpPr>
        <p:spPr>
          <a:xfrm>
            <a:off x="822960" y="1874520"/>
            <a:ext cx="10515600" cy="365760"/>
          </a:xfrm>
          <a:prstGeom prst="rect">
            <a:avLst/>
          </a:prstGeom>
          <a:noFill/>
          <a:ln/>
        </p:spPr>
        <p:txBody>
          <a:bodyPr wrap="square" rtlCol="0" anchor="ctr"/>
          <a:lstStyle/>
          <a:p>
            <a:pPr indent="0" marL="0">
              <a:buNone/>
            </a:pPr>
            <a:r>
              <a:rPr lang="en-US" sz="1600" b="1" spc="300" kern="0" dirty="0">
                <a:solidFill>
                  <a:srgbClr val="8A6D3B"/>
                </a:solidFill>
                <a:latin typeface="Calibri" pitchFamily="34" charset="0"/>
                <a:ea typeface="Calibri" pitchFamily="34" charset="-122"/>
                <a:cs typeface="Calibri" pitchFamily="34" charset="-120"/>
              </a:rPr>
              <a:t>KEEL · A GUILD DISCIPLINE FOR BUILDING WITH AI</a:t>
            </a:r>
            <a:endParaRPr lang="en-US" sz="1600" dirty="0"/>
          </a:p>
        </p:txBody>
      </p:sp>
      <p:sp>
        <p:nvSpPr>
          <p:cNvPr id="5" name="Text 2"/>
          <p:cNvSpPr/>
          <p:nvPr/>
        </p:nvSpPr>
        <p:spPr>
          <a:xfrm>
            <a:off x="822960" y="2194560"/>
            <a:ext cx="10515600" cy="1737360"/>
          </a:xfrm>
          <a:prstGeom prst="rect">
            <a:avLst/>
          </a:prstGeom>
          <a:noFill/>
          <a:ln/>
        </p:spPr>
        <p:txBody>
          <a:bodyPr wrap="square"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The Build-First Pattern</a:t>
            </a:r>
            <a:endParaRPr lang="en-US" sz="4600" dirty="0"/>
          </a:p>
        </p:txBody>
      </p:sp>
      <p:sp>
        <p:nvSpPr>
          <p:cNvPr id="6" name="Text 3"/>
          <p:cNvSpPr/>
          <p:nvPr/>
        </p:nvSpPr>
        <p:spPr>
          <a:xfrm>
            <a:off x="822960" y="4114800"/>
            <a:ext cx="10058400" cy="1097280"/>
          </a:xfrm>
          <a:prstGeom prst="rect">
            <a:avLst/>
          </a:prstGeom>
          <a:noFill/>
          <a:ln/>
        </p:spPr>
        <p:txBody>
          <a:bodyPr wrap="square" rtlCol="0" anchor="ctr"/>
          <a:lstStyle/>
          <a:p>
            <a:pPr indent="0" marL="0">
              <a:lnSpc>
                <a:spcPct val="105000"/>
              </a:lnSpc>
              <a:buNone/>
            </a:pPr>
            <a:r>
              <a:rPr lang="en-US" sz="2000" i="1" dirty="0">
                <a:solidFill>
                  <a:srgbClr val="CADCFC"/>
                </a:solidFill>
                <a:latin typeface="Calibri" pitchFamily="34" charset="0"/>
                <a:ea typeface="Calibri" pitchFamily="34" charset="-122"/>
                <a:cs typeface="Calibri" pitchFamily="34" charset="-120"/>
              </a:rPr>
              <a:t>Lay the KEEL before you sail. The foundation you build every project on. For people who have judgment and intend to use it.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52A45"/>
        </a:solidFill>
      </p:bgPr>
    </p:bg>
    <p:spTree>
      <p:nvGrpSpPr>
        <p:cNvPr id="1" name=""/>
        <p:cNvGrpSpPr/>
        <p:nvPr/>
      </p:nvGrpSpPr>
      <p:grpSpPr>
        <a:xfrm>
          <a:off x="0" y="0"/>
          <a:ext cx="0" cy="0"/>
          <a:chOff x="0" y="0"/>
          <a:chExt cx="0" cy="0"/>
        </a:xfrm>
      </p:grpSpPr>
      <p:sp>
        <p:nvSpPr>
          <p:cNvPr id="2" name="Text 0"/>
          <p:cNvSpPr/>
          <p:nvPr/>
        </p:nvSpPr>
        <p:spPr>
          <a:xfrm>
            <a:off x="1097280" y="2103120"/>
            <a:ext cx="9966960" cy="2560320"/>
          </a:xfrm>
          <a:prstGeom prst="rect">
            <a:avLst/>
          </a:prstGeom>
          <a:noFill/>
          <a:ln/>
        </p:spPr>
        <p:txBody>
          <a:bodyPr wrap="square" rtlCol="0" anchor="ctr"/>
          <a:lstStyle/>
          <a:p>
            <a:pPr algn="ctr" indent="0" marL="0">
              <a:lnSpc>
                <a:spcPct val="105000"/>
              </a:lnSpc>
              <a:buNone/>
            </a:pPr>
            <a:r>
              <a:rPr lang="en-US" sz="4800" b="1" i="1" dirty="0">
                <a:solidFill>
                  <a:srgbClr val="FFFFFF"/>
                </a:solidFill>
                <a:latin typeface="Cambria" pitchFamily="34" charset="0"/>
                <a:ea typeface="Cambria" pitchFamily="34" charset="-122"/>
                <a:cs typeface="Cambria" pitchFamily="34" charset="-120"/>
              </a:rPr>
              <a:t>“All good rules</a:t>
            </a:r>
            <a:endParaRPr lang="en-US" sz="4800" dirty="0"/>
          </a:p>
          <a:p>
            <a:pPr algn="ctr" indent="0" marL="0">
              <a:lnSpc>
                <a:spcPct val="105000"/>
              </a:lnSpc>
              <a:buNone/>
            </a:pPr>
            <a:r>
              <a:rPr lang="en-US" sz="4800" b="1" i="1" dirty="0">
                <a:solidFill>
                  <a:srgbClr val="FFFFFF"/>
                </a:solidFill>
                <a:latin typeface="Cambria" pitchFamily="34" charset="0"/>
                <a:ea typeface="Cambria" pitchFamily="34" charset="-122"/>
                <a:cs typeface="Cambria" pitchFamily="34" charset="-120"/>
              </a:rPr>
              <a:t>were written in blood.”</a:t>
            </a:r>
            <a:endParaRPr lang="en-US" sz="4800" dirty="0"/>
          </a:p>
        </p:txBody>
      </p:sp>
      <p:sp>
        <p:nvSpPr>
          <p:cNvPr id="3" name="Text 1"/>
          <p:cNvSpPr/>
          <p:nvPr/>
        </p:nvSpPr>
        <p:spPr>
          <a:xfrm>
            <a:off x="1097280" y="4754880"/>
            <a:ext cx="9966960" cy="548640"/>
          </a:xfrm>
          <a:prstGeom prst="rect">
            <a:avLst/>
          </a:prstGeom>
          <a:noFill/>
          <a:ln/>
        </p:spPr>
        <p:txBody>
          <a:bodyPr wrap="square" rtlCol="0" anchor="ctr"/>
          <a:lstStyle/>
          <a:p>
            <a:pPr algn="ctr" indent="0" marL="0">
              <a:buNone/>
            </a:pPr>
            <a:r>
              <a:rPr lang="en-US" sz="1800" i="1" dirty="0">
                <a:solidFill>
                  <a:srgbClr val="8A6D3B"/>
                </a:solidFill>
                <a:latin typeface="Calibri" pitchFamily="34" charset="0"/>
                <a:ea typeface="Calibri" pitchFamily="34" charset="-122"/>
                <a:cs typeface="Calibri" pitchFamily="34" charset="-120"/>
              </a:rPr>
              <a:t>Every rule in this deck was paid for. Not a hypothetical — a scar.</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82296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moment we're in</a:t>
            </a:r>
            <a:endParaRPr lang="en-US" sz="3200" dirty="0"/>
          </a:p>
        </p:txBody>
      </p:sp>
      <p:sp>
        <p:nvSpPr>
          <p:cNvPr id="3" name="Text 1"/>
          <p:cNvSpPr/>
          <p:nvPr/>
        </p:nvSpPr>
        <p:spPr>
          <a:xfrm>
            <a:off x="640080" y="1371600"/>
            <a:ext cx="6766560" cy="2194560"/>
          </a:xfrm>
          <a:prstGeom prst="rect">
            <a:avLst/>
          </a:prstGeom>
          <a:noFill/>
          <a:ln/>
        </p:spPr>
        <p:txBody>
          <a:bodyPr wrap="square" rtlCol="0" anchor="ctr"/>
          <a:lstStyle/>
          <a:p>
            <a:pPr indent="0" marL="0">
              <a:lnSpc>
                <a:spcPct val="112000"/>
              </a:lnSpc>
              <a:buNone/>
            </a:pPr>
            <a:r>
              <a:rPr lang="en-US" sz="1900" b="1" dirty="0">
                <a:solidFill>
                  <a:srgbClr val="222B36"/>
                </a:solidFill>
                <a:latin typeface="Calibri" pitchFamily="34" charset="0"/>
                <a:ea typeface="Calibri" pitchFamily="34" charset="-122"/>
                <a:cs typeface="Calibri" pitchFamily="34" charset="-120"/>
              </a:rPr>
              <a:t>The tools now let one person build what used to take a team.</a:t>
            </a:r>
            <a:endParaRPr lang="en-US" sz="1900" dirty="0"/>
          </a:p>
          <a:p>
            <a:pPr indent="0" marL="0">
              <a:lnSpc>
                <a:spcPct val="112000"/>
              </a:lnSpc>
              <a:buNone/>
            </a:pPr>
            <a:endParaRPr lang="en-US" sz="1900" dirty="0"/>
          </a:p>
          <a:p>
            <a:pPr indent="0" marL="0">
              <a:lnSpc>
                <a:spcPct val="112000"/>
              </a:lnSpc>
              <a:buNone/>
            </a:pPr>
            <a:r>
              <a:rPr lang="en-US" sz="1900" dirty="0">
                <a:solidFill>
                  <a:srgbClr val="3A4A5A"/>
                </a:solidFill>
                <a:latin typeface="Calibri" pitchFamily="34" charset="0"/>
                <a:ea typeface="Calibri" pitchFamily="34" charset="-122"/>
                <a:cs typeface="Calibri" pitchFamily="34" charset="-120"/>
              </a:rPr>
              <a:t>That is the opportunity — and the trap. The speed is intoxicating, and intoxicated builders skip foundations.</a:t>
            </a:r>
            <a:endParaRPr lang="en-US" sz="1900" dirty="0"/>
          </a:p>
        </p:txBody>
      </p:sp>
      <p:sp>
        <p:nvSpPr>
          <p:cNvPr id="4" name="Shape 2"/>
          <p:cNvSpPr/>
          <p:nvPr/>
        </p:nvSpPr>
        <p:spPr>
          <a:xfrm>
            <a:off x="7680960" y="1371600"/>
            <a:ext cx="3840480" cy="1051560"/>
          </a:xfrm>
          <a:prstGeom prst="rect">
            <a:avLst/>
          </a:prstGeom>
          <a:solidFill>
            <a:srgbClr val="F4F1EA"/>
          </a:solidFill>
          <a:ln/>
        </p:spPr>
      </p:sp>
      <p:sp>
        <p:nvSpPr>
          <p:cNvPr id="5" name="Text 3"/>
          <p:cNvSpPr/>
          <p:nvPr/>
        </p:nvSpPr>
        <p:spPr>
          <a:xfrm>
            <a:off x="7863840" y="1481328"/>
            <a:ext cx="3474720" cy="3657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The only copy vanishes</a:t>
            </a:r>
            <a:endParaRPr lang="en-US" sz="1500" dirty="0"/>
          </a:p>
        </p:txBody>
      </p:sp>
      <p:sp>
        <p:nvSpPr>
          <p:cNvPr id="6" name="Text 4"/>
          <p:cNvSpPr/>
          <p:nvPr/>
        </p:nvSpPr>
        <p:spPr>
          <a:xfrm>
            <a:off x="7863840" y="1874520"/>
            <a:ext cx="3474720"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Work that lived in one place — gone.</a:t>
            </a:r>
            <a:endParaRPr lang="en-US" sz="1250" dirty="0"/>
          </a:p>
        </p:txBody>
      </p:sp>
      <p:sp>
        <p:nvSpPr>
          <p:cNvPr id="7" name="Shape 5"/>
          <p:cNvSpPr/>
          <p:nvPr/>
        </p:nvSpPr>
        <p:spPr>
          <a:xfrm>
            <a:off x="7680960" y="2651760"/>
            <a:ext cx="3840480" cy="1051560"/>
          </a:xfrm>
          <a:prstGeom prst="rect">
            <a:avLst/>
          </a:prstGeom>
          <a:solidFill>
            <a:srgbClr val="F4F1EA"/>
          </a:solidFill>
          <a:ln/>
        </p:spPr>
      </p:sp>
      <p:sp>
        <p:nvSpPr>
          <p:cNvPr id="8" name="Text 6"/>
          <p:cNvSpPr/>
          <p:nvPr/>
        </p:nvSpPr>
        <p:spPr>
          <a:xfrm>
            <a:off x="7863840" y="2761488"/>
            <a:ext cx="3474720" cy="3657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Nothing was ever tested</a:t>
            </a:r>
            <a:endParaRPr lang="en-US" sz="1500" dirty="0"/>
          </a:p>
        </p:txBody>
      </p:sp>
      <p:sp>
        <p:nvSpPr>
          <p:cNvPr id="9" name="Text 7"/>
          <p:cNvSpPr/>
          <p:nvPr/>
        </p:nvSpPr>
        <p:spPr>
          <a:xfrm>
            <a:off x="7863840" y="3154680"/>
            <a:ext cx="3474720"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Broken code ships; nobody knows.</a:t>
            </a:r>
            <a:endParaRPr lang="en-US" sz="1250" dirty="0"/>
          </a:p>
        </p:txBody>
      </p:sp>
      <p:sp>
        <p:nvSpPr>
          <p:cNvPr id="10" name="Shape 8"/>
          <p:cNvSpPr/>
          <p:nvPr/>
        </p:nvSpPr>
        <p:spPr>
          <a:xfrm>
            <a:off x="7680960" y="3931920"/>
            <a:ext cx="3840480" cy="1051560"/>
          </a:xfrm>
          <a:prstGeom prst="rect">
            <a:avLst/>
          </a:prstGeom>
          <a:solidFill>
            <a:srgbClr val="F4F1EA"/>
          </a:solidFill>
          <a:ln/>
        </p:spPr>
      </p:sp>
      <p:sp>
        <p:nvSpPr>
          <p:cNvPr id="11" name="Text 9"/>
          <p:cNvSpPr/>
          <p:nvPr/>
        </p:nvSpPr>
        <p:spPr>
          <a:xfrm>
            <a:off x="7863840" y="4041648"/>
            <a:ext cx="3474720" cy="3657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A decision is lost</a:t>
            </a:r>
            <a:endParaRPr lang="en-US" sz="1500" dirty="0"/>
          </a:p>
        </p:txBody>
      </p:sp>
      <p:sp>
        <p:nvSpPr>
          <p:cNvPr id="12" name="Text 10"/>
          <p:cNvSpPr/>
          <p:nvPr/>
        </p:nvSpPr>
        <p:spPr>
          <a:xfrm>
            <a:off x="7863840" y="4434840"/>
            <a:ext cx="3474720" cy="4572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Agreed in a chat, never written down.</a:t>
            </a:r>
            <a:endParaRPr lang="en-US" sz="1250" dirty="0"/>
          </a:p>
        </p:txBody>
      </p:sp>
      <p:sp>
        <p:nvSpPr>
          <p:cNvPr id="13" name="Text 11"/>
          <p:cNvSpPr/>
          <p:nvPr/>
        </p:nvSpPr>
        <p:spPr>
          <a:xfrm>
            <a:off x="640080" y="5212080"/>
            <a:ext cx="10881360" cy="1005840"/>
          </a:xfrm>
          <a:prstGeom prst="rect">
            <a:avLst/>
          </a:prstGeom>
          <a:noFill/>
          <a:ln/>
        </p:spPr>
        <p:txBody>
          <a:bodyPr wrap="square" rtlCol="0" anchor="ctr"/>
          <a:lstStyle/>
          <a:p>
            <a:pPr algn="ctr" indent="0" marL="0">
              <a:lnSpc>
                <a:spcPct val="105000"/>
              </a:lnSpc>
              <a:buNone/>
            </a:pPr>
            <a:r>
              <a:rPr lang="en-US" sz="2000" i="1" dirty="0">
                <a:solidFill>
                  <a:srgbClr val="1F3A5F"/>
                </a:solidFill>
                <a:latin typeface="Cambria" pitchFamily="34" charset="0"/>
                <a:ea typeface="Cambria" pitchFamily="34" charset="-122"/>
                <a:cs typeface="Cambria" pitchFamily="34" charset="-120"/>
              </a:rPr>
              <a:t>The people who thrive here are not the fastest typists. They are the ones with the discipline to insist on solid ground before they build on it.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731520" y="822960"/>
            <a:ext cx="10698480" cy="731520"/>
          </a:xfrm>
          <a:prstGeom prst="rect">
            <a:avLst/>
          </a:prstGeom>
          <a:noFill/>
          <a:ln/>
        </p:spPr>
        <p:txBody>
          <a:bodyPr wrap="square"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The one rule, if you remember nothing else</a:t>
            </a:r>
            <a:endParaRPr lang="en-US" sz="3000" dirty="0"/>
          </a:p>
        </p:txBody>
      </p:sp>
      <p:sp>
        <p:nvSpPr>
          <p:cNvPr id="3" name="Text 1"/>
          <p:cNvSpPr/>
          <p:nvPr/>
        </p:nvSpPr>
        <p:spPr>
          <a:xfrm>
            <a:off x="731520" y="1920240"/>
            <a:ext cx="10698480" cy="1463040"/>
          </a:xfrm>
          <a:prstGeom prst="rect">
            <a:avLst/>
          </a:prstGeom>
          <a:noFill/>
          <a:ln/>
        </p:spPr>
        <p:txBody>
          <a:bodyPr wrap="square" rtlCol="0" anchor="ctr"/>
          <a:lstStyle/>
          <a:p>
            <a:pPr indent="0" marL="0">
              <a:lnSpc>
                <a:spcPct val="112000"/>
              </a:lnSpc>
              <a:buNone/>
            </a:pPr>
            <a:r>
              <a:rPr lang="en-US" sz="2600" dirty="0">
                <a:solidFill>
                  <a:srgbClr val="222B36"/>
                </a:solidFill>
                <a:latin typeface="Calibri" pitchFamily="34" charset="0"/>
                <a:ea typeface="Calibri" pitchFamily="34" charset="-122"/>
                <a:cs typeface="Calibri" pitchFamily="34" charset="-120"/>
              </a:rPr>
              <a:t>Lay the KEEL — </a:t>
            </a:r>
            <a:pPr indent="0" marL="0">
              <a:lnSpc>
                <a:spcPct val="112000"/>
              </a:lnSpc>
              <a:buNone/>
            </a:pPr>
            <a:r>
              <a:rPr lang="en-US" sz="2600" b="1" dirty="0">
                <a:solidFill>
                  <a:srgbClr val="1F3A5F"/>
                </a:solidFill>
                <a:latin typeface="Calibri" pitchFamily="34" charset="0"/>
                <a:ea typeface="Calibri" pitchFamily="34" charset="-122"/>
                <a:cs typeface="Calibri" pitchFamily="34" charset="-120"/>
              </a:rPr>
              <a:t>version control, automated testing, automated deployment</a:t>
            </a:r>
            <a:pPr indent="0" marL="0">
              <a:lnSpc>
                <a:spcPct val="112000"/>
              </a:lnSpc>
              <a:buNone/>
            </a:pPr>
            <a:r>
              <a:rPr lang="en-US" sz="2600" dirty="0">
                <a:solidFill>
                  <a:srgbClr val="222B36"/>
                </a:solidFill>
                <a:latin typeface="Calibri" pitchFamily="34" charset="0"/>
                <a:ea typeface="Calibri" pitchFamily="34" charset="-122"/>
                <a:cs typeface="Calibri" pitchFamily="34" charset="-120"/>
              </a:rPr>
              <a:t> — BEFORE you plan a single feature, and before you dream with an AI.</a:t>
            </a:r>
            <a:endParaRPr lang="en-US" sz="2600" dirty="0"/>
          </a:p>
        </p:txBody>
      </p:sp>
      <p:sp>
        <p:nvSpPr>
          <p:cNvPr id="4" name="Text 2"/>
          <p:cNvSpPr/>
          <p:nvPr/>
        </p:nvSpPr>
        <p:spPr>
          <a:xfrm>
            <a:off x="731520" y="3566160"/>
            <a:ext cx="10698480" cy="640080"/>
          </a:xfrm>
          <a:prstGeom prst="rect">
            <a:avLst/>
          </a:prstGeom>
          <a:noFill/>
          <a:ln/>
        </p:spPr>
        <p:txBody>
          <a:bodyPr wrap="square" rtlCol="0" anchor="ctr"/>
          <a:lstStyle/>
          <a:p>
            <a:pPr indent="0" marL="0">
              <a:buNone/>
            </a:pPr>
            <a:r>
              <a:rPr lang="en-US" sz="1900" i="1" dirty="0">
                <a:solidFill>
                  <a:srgbClr val="3A4A5A"/>
                </a:solidFill>
                <a:latin typeface="Calibri" pitchFamily="34" charset="0"/>
                <a:ea typeface="Calibri" pitchFamily="34" charset="-122"/>
                <a:cs typeface="Calibri" pitchFamily="34" charset="-120"/>
              </a:rPr>
              <a:t>Not after the prototype works. Not once it “gets serious.” First.</a:t>
            </a:r>
            <a:endParaRPr lang="en-US" sz="1900" dirty="0"/>
          </a:p>
        </p:txBody>
      </p:sp>
      <p:sp>
        <p:nvSpPr>
          <p:cNvPr id="5" name="Text 3"/>
          <p:cNvSpPr/>
          <p:nvPr/>
        </p:nvSpPr>
        <p:spPr>
          <a:xfrm>
            <a:off x="731520" y="4709160"/>
            <a:ext cx="10698480" cy="640080"/>
          </a:xfrm>
          <a:prstGeom prst="rect">
            <a:avLst/>
          </a:prstGeom>
          <a:noFill/>
          <a:ln/>
        </p:spPr>
        <p:txBody>
          <a:bodyPr wrap="square" rtlCol="0" anchor="ctr"/>
          <a:lstStyle/>
          <a:p>
            <a:pPr indent="0" marL="0">
              <a:lnSpc>
                <a:spcPct val="108000"/>
              </a:lnSpc>
              <a:buNone/>
            </a:pPr>
            <a:r>
              <a:rPr lang="en-US" sz="1800" b="1" dirty="0">
                <a:solidFill>
                  <a:srgbClr val="8A6D3B"/>
                </a:solidFill>
                <a:latin typeface="Calibri" pitchFamily="34" charset="0"/>
                <a:ea typeface="Calibri" pitchFamily="34" charset="-122"/>
                <a:cs typeface="Calibri" pitchFamily="34" charset="-120"/>
              </a:rPr>
              <a:t>Thirty seconds on day one.  </a:t>
            </a:r>
            <a:pPr indent="0" marL="0">
              <a:lnSpc>
                <a:spcPct val="108000"/>
              </a:lnSpc>
              <a:buNone/>
            </a:pPr>
            <a:r>
              <a:rPr lang="en-US" sz="1800" dirty="0">
                <a:solidFill>
                  <a:srgbClr val="3A4A5A"/>
                </a:solidFill>
                <a:latin typeface="Calibri" pitchFamily="34" charset="0"/>
                <a:ea typeface="Calibri" pitchFamily="34" charset="-122"/>
                <a:cs typeface="Calibri" pitchFamily="34" charset="-120"/>
              </a:rPr>
              <a:t>A painful, error-prone retrofit on day ninety.  You will never regret having it.</a:t>
            </a:r>
            <a:endParaRPr lang="en-US" sz="1800" dirty="0"/>
          </a:p>
        </p:txBody>
      </p:sp>
      <p:sp>
        <p:nvSpPr>
          <p:cNvPr id="6" name="Text 4"/>
          <p:cNvSpPr/>
          <p:nvPr/>
        </p:nvSpPr>
        <p:spPr>
          <a:xfrm>
            <a:off x="731520" y="5532120"/>
            <a:ext cx="10698480" cy="731520"/>
          </a:xfrm>
          <a:prstGeom prst="rect">
            <a:avLst/>
          </a:prstGeom>
          <a:noFill/>
          <a:ln/>
        </p:spPr>
        <p:txBody>
          <a:bodyPr wrap="square" rtlCol="0" anchor="ctr"/>
          <a:lstStyle/>
          <a:p>
            <a:pPr indent="0" marL="0">
              <a:lnSpc>
                <a:spcPct val="105000"/>
              </a:lnSpc>
              <a:buNone/>
            </a:pPr>
            <a:r>
              <a:rPr lang="en-US" sz="1500" b="1" dirty="0">
                <a:solidFill>
                  <a:srgbClr val="1F3A5F"/>
                </a:solidFill>
                <a:latin typeface="Calibri" pitchFamily="34" charset="0"/>
                <a:ea typeface="Calibri" pitchFamily="34" charset="-122"/>
                <a:cs typeface="Calibri" pitchFamily="34" charset="-120"/>
              </a:rPr>
              <a:t>The KEEL: </a:t>
            </a:r>
            <a:pPr indent="0" marL="0">
              <a:lnSpc>
                <a:spcPct val="105000"/>
              </a:lnSpc>
              <a:buNone/>
            </a:pPr>
            <a:r>
              <a:rPr lang="en-US" sz="1500" i="1" dirty="0">
                <a:solidFill>
                  <a:srgbClr val="6B7280"/>
                </a:solidFill>
                <a:latin typeface="Calibri" pitchFamily="34" charset="0"/>
                <a:ea typeface="Calibri" pitchFamily="34" charset="-122"/>
                <a:cs typeface="Calibri" pitchFamily="34" charset="-120"/>
              </a:rPr>
              <a:t>the first timber laid — the spine that keeps a boat upright when the weather turns. A project without one doesn’t sail badly; it capsizes.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3A5F"/>
        </a:solidFill>
      </p:bgPr>
    </p:bg>
    <p:spTree>
      <p:nvGrpSpPr>
        <p:cNvPr id="1" name=""/>
        <p:cNvGrpSpPr/>
        <p:nvPr/>
      </p:nvGrpSpPr>
      <p:grpSpPr>
        <a:xfrm>
          <a:off x="0" y="0"/>
          <a:ext cx="0" cy="0"/>
          <a:chOff x="0" y="0"/>
          <a:chExt cx="0" cy="0"/>
        </a:xfrm>
      </p:grpSpPr>
      <p:sp>
        <p:nvSpPr>
          <p:cNvPr id="3" name="Shape 0"/>
          <p:cNvSpPr/>
          <p:nvPr/>
        </p:nvSpPr>
        <p:spPr>
          <a:xfrm>
            <a:off x="0" y="0"/>
            <a:ext cx="12161520" cy="6858000"/>
          </a:xfrm>
          <a:prstGeom prst="rect">
            <a:avLst/>
          </a:prstGeom>
          <a:solidFill>
            <a:srgbClr val="1F3A5F"/>
          </a:solidFill>
          <a:ln/>
        </p:spPr>
      </p:sp>
      <p:sp>
        <p:nvSpPr>
          <p:cNvPr id="4" name="Text 1"/>
          <p:cNvSpPr/>
          <p:nvPr/>
        </p:nvSpPr>
        <p:spPr>
          <a:xfrm>
            <a:off x="822960" y="1874520"/>
            <a:ext cx="10515600" cy="365760"/>
          </a:xfrm>
          <a:prstGeom prst="rect">
            <a:avLst/>
          </a:prstGeom>
          <a:noFill/>
          <a:ln/>
        </p:spPr>
        <p:txBody>
          <a:bodyPr wrap="square" rtlCol="0" anchor="ctr"/>
          <a:lstStyle/>
          <a:p>
            <a:pPr indent="0" marL="0">
              <a:buNone/>
            </a:pPr>
            <a:r>
              <a:rPr lang="en-US" sz="1600" b="1" spc="300" kern="0" dirty="0">
                <a:solidFill>
                  <a:srgbClr val="8A6D3B"/>
                </a:solidFill>
                <a:latin typeface="Calibri" pitchFamily="34" charset="0"/>
                <a:ea typeface="Calibri" pitchFamily="34" charset="-122"/>
                <a:cs typeface="Calibri" pitchFamily="34" charset="-120"/>
              </a:rPr>
              <a:t>BEFORE ANYTHING ELSE</a:t>
            </a:r>
            <a:endParaRPr lang="en-US" sz="1600" dirty="0"/>
          </a:p>
        </p:txBody>
      </p:sp>
      <p:sp>
        <p:nvSpPr>
          <p:cNvPr id="5" name="Text 2"/>
          <p:cNvSpPr/>
          <p:nvPr/>
        </p:nvSpPr>
        <p:spPr>
          <a:xfrm>
            <a:off x="822960" y="2194560"/>
            <a:ext cx="10515600" cy="1737360"/>
          </a:xfrm>
          <a:prstGeom prst="rect">
            <a:avLst/>
          </a:prstGeom>
          <a:noFill/>
          <a:ln/>
        </p:spPr>
        <p:txBody>
          <a:bodyPr wrap="square"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Two AIs.</a:t>
            </a:r>
            <a:endParaRPr lang="en-US" sz="4600" dirty="0"/>
          </a:p>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Two different windows.</a:t>
            </a:r>
            <a:endParaRPr lang="en-US" sz="4600" dirty="0"/>
          </a:p>
        </p:txBody>
      </p:sp>
      <p:sp>
        <p:nvSpPr>
          <p:cNvPr id="6" name="Text 3"/>
          <p:cNvSpPr/>
          <p:nvPr/>
        </p:nvSpPr>
        <p:spPr>
          <a:xfrm>
            <a:off x="822960" y="4114800"/>
            <a:ext cx="10058400" cy="1097280"/>
          </a:xfrm>
          <a:prstGeom prst="rect">
            <a:avLst/>
          </a:prstGeom>
          <a:noFill/>
          <a:ln/>
        </p:spPr>
        <p:txBody>
          <a:bodyPr wrap="square" rtlCol="0" anchor="ctr"/>
          <a:lstStyle/>
          <a:p>
            <a:pPr indent="0" marL="0">
              <a:lnSpc>
                <a:spcPct val="105000"/>
              </a:lnSpc>
              <a:buNone/>
            </a:pPr>
            <a:r>
              <a:rPr lang="en-US" sz="2000" i="1" dirty="0">
                <a:solidFill>
                  <a:srgbClr val="CADCFC"/>
                </a:solidFill>
                <a:latin typeface="Calibri" pitchFamily="34" charset="0"/>
                <a:ea typeface="Calibri" pitchFamily="34" charset="-122"/>
                <a:cs typeface="Calibri" pitchFamily="34" charset="-120"/>
              </a:rPr>
              <a:t>Confusing them is the #1 beginner mistake. Get this, and the rest makes sense.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82296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Planner vs. the Builder</a:t>
            </a:r>
            <a:endParaRPr lang="en-US" sz="3200" dirty="0"/>
          </a:p>
        </p:txBody>
      </p:sp>
      <p:sp>
        <p:nvSpPr>
          <p:cNvPr id="3" name="Shape 1"/>
          <p:cNvSpPr/>
          <p:nvPr/>
        </p:nvSpPr>
        <p:spPr>
          <a:xfrm>
            <a:off x="640080" y="1371600"/>
            <a:ext cx="5212080" cy="4023360"/>
          </a:xfrm>
          <a:prstGeom prst="rect">
            <a:avLst/>
          </a:prstGeom>
          <a:solidFill>
            <a:srgbClr val="F4F1EA"/>
          </a:solidFill>
          <a:ln/>
        </p:spPr>
      </p:sp>
      <p:sp>
        <p:nvSpPr>
          <p:cNvPr id="4" name="Text 2"/>
          <p:cNvSpPr/>
          <p:nvPr/>
        </p:nvSpPr>
        <p:spPr>
          <a:xfrm>
            <a:off x="914400" y="1600200"/>
            <a:ext cx="4663440" cy="365760"/>
          </a:xfrm>
          <a:prstGeom prst="rect">
            <a:avLst/>
          </a:prstGeom>
          <a:noFill/>
          <a:ln/>
        </p:spPr>
        <p:txBody>
          <a:bodyPr wrap="square" lIns="0" tIns="0" rIns="0" bIns="0" rtlCol="0" anchor="ctr"/>
          <a:lstStyle/>
          <a:p>
            <a:pPr indent="0" marL="0">
              <a:buNone/>
            </a:pPr>
            <a:r>
              <a:rPr lang="en-US" sz="1500" b="1" spc="200" kern="0" dirty="0">
                <a:solidFill>
                  <a:srgbClr val="8A6D3B"/>
                </a:solidFill>
                <a:latin typeface="Calibri" pitchFamily="34" charset="0"/>
                <a:ea typeface="Calibri" pitchFamily="34" charset="-122"/>
                <a:cs typeface="Calibri" pitchFamily="34" charset="-120"/>
              </a:rPr>
              <a:t>THE PLANNER</a:t>
            </a:r>
            <a:endParaRPr lang="en-US" sz="1500" dirty="0"/>
          </a:p>
        </p:txBody>
      </p:sp>
      <p:sp>
        <p:nvSpPr>
          <p:cNvPr id="5" name="Text 3"/>
          <p:cNvSpPr/>
          <p:nvPr/>
        </p:nvSpPr>
        <p:spPr>
          <a:xfrm>
            <a:off x="914400" y="1965960"/>
            <a:ext cx="4663440" cy="54864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Your AI chat (Claude / Grok, in a browser Project)</a:t>
            </a:r>
            <a:endParaRPr lang="en-US" sz="1400" dirty="0"/>
          </a:p>
        </p:txBody>
      </p:sp>
      <p:sp>
        <p:nvSpPr>
          <p:cNvPr id="6" name="Text 4"/>
          <p:cNvSpPr/>
          <p:nvPr/>
        </p:nvSpPr>
        <p:spPr>
          <a:xfrm>
            <a:off x="914400" y="2606040"/>
            <a:ext cx="4663440" cy="2651760"/>
          </a:xfrm>
          <a:prstGeom prst="rect">
            <a:avLst/>
          </a:prstGeom>
          <a:noFill/>
          <a:ln/>
        </p:spPr>
        <p:txBody>
          <a:bodyPr wrap="square" rtlCol="0" anchor="t"/>
          <a:lstStyle/>
          <a:p>
            <a:pPr indent="0" marL="0">
              <a:lnSpc>
                <a:spcPct val="108000"/>
              </a:lnSpc>
              <a:buNone/>
            </a:pPr>
            <a:r>
              <a:rPr lang="en-US" sz="1500" b="1" dirty="0">
                <a:solidFill>
                  <a:srgbClr val="1F3A5F"/>
                </a:solidFill>
                <a:latin typeface="Calibri" pitchFamily="34" charset="0"/>
                <a:ea typeface="Calibri" pitchFamily="34" charset="-122"/>
                <a:cs typeface="Calibri" pitchFamily="34" charset="-120"/>
              </a:rPr>
              <a:t>In a sealed room.</a:t>
            </a:r>
            <a:endParaRPr lang="en-US" sz="1500" dirty="0"/>
          </a:p>
          <a:p>
            <a:pPr indent="0" marL="0">
              <a:lnSpc>
                <a:spcPct val="108000"/>
              </a:lnSpc>
              <a:buNone/>
            </a:pPr>
            <a:r>
              <a:rPr lang="en-US" sz="1500" dirty="0">
                <a:solidFill>
                  <a:srgbClr val="3A4A5A"/>
                </a:solidFill>
                <a:latin typeface="Calibri" pitchFamily="34" charset="0"/>
                <a:ea typeface="Calibri" pitchFamily="34" charset="-122"/>
                <a:cs typeface="Calibri" pitchFamily="34" charset="-120"/>
              </a:rPr>
              <a:t>Sees NOTHING of your code by default — only what you carry in and hand it.</a:t>
            </a:r>
            <a:endParaRPr lang="en-US" sz="1500" dirty="0"/>
          </a:p>
          <a:p>
            <a:pPr indent="0" marL="0">
              <a:lnSpc>
                <a:spcPct val="108000"/>
              </a:lnSpc>
              <a:buNone/>
            </a:pPr>
            <a:endParaRPr lang="en-US" sz="1500" dirty="0"/>
          </a:p>
          <a:p>
            <a:pPr indent="0" marL="0">
              <a:lnSpc>
                <a:spcPct val="108000"/>
              </a:lnSpc>
              <a:buNone/>
            </a:pPr>
            <a:r>
              <a:rPr lang="en-US" sz="1500" dirty="0">
                <a:solidFill>
                  <a:srgbClr val="3A4A5A"/>
                </a:solidFill>
                <a:latin typeface="Calibri" pitchFamily="34" charset="0"/>
                <a:ea typeface="Calibri" pitchFamily="34" charset="-122"/>
                <a:cs typeface="Calibri" pitchFamily="34" charset="-120"/>
              </a:rPr>
              <a:t>That distance is why it's right for THINKING:</a:t>
            </a:r>
            <a:endParaRPr lang="en-US" sz="1500" dirty="0"/>
          </a:p>
          <a:p>
            <a:pPr indent="0" marL="0">
              <a:lnSpc>
                <a:spcPct val="108000"/>
              </a:lnSpc>
              <a:buNone/>
            </a:pPr>
            <a:r>
              <a:rPr lang="en-US" sz="1500" b="1" dirty="0">
                <a:solidFill>
                  <a:srgbClr val="1F3A5F"/>
                </a:solidFill>
                <a:latin typeface="Calibri" pitchFamily="34" charset="0"/>
                <a:ea typeface="Calibri" pitchFamily="34" charset="-122"/>
                <a:cs typeface="Calibri" pitchFamily="34" charset="-120"/>
              </a:rPr>
              <a:t>architecture, plans, catching the mistake you're about to make.</a:t>
            </a:r>
            <a:endParaRPr lang="en-US" sz="1500" dirty="0"/>
          </a:p>
        </p:txBody>
      </p:sp>
      <p:sp>
        <p:nvSpPr>
          <p:cNvPr id="7" name="Shape 5"/>
          <p:cNvSpPr/>
          <p:nvPr/>
        </p:nvSpPr>
        <p:spPr>
          <a:xfrm>
            <a:off x="6309360" y="1371600"/>
            <a:ext cx="5212080" cy="4023360"/>
          </a:xfrm>
          <a:prstGeom prst="rect">
            <a:avLst/>
          </a:prstGeom>
          <a:solidFill>
            <a:srgbClr val="1F3A5F"/>
          </a:solidFill>
          <a:ln/>
        </p:spPr>
      </p:sp>
      <p:sp>
        <p:nvSpPr>
          <p:cNvPr id="8" name="Text 6"/>
          <p:cNvSpPr/>
          <p:nvPr/>
        </p:nvSpPr>
        <p:spPr>
          <a:xfrm>
            <a:off x="6583680" y="1600200"/>
            <a:ext cx="4663440" cy="365760"/>
          </a:xfrm>
          <a:prstGeom prst="rect">
            <a:avLst/>
          </a:prstGeom>
          <a:noFill/>
          <a:ln/>
        </p:spPr>
        <p:txBody>
          <a:bodyPr wrap="square" lIns="0" tIns="0" rIns="0" bIns="0" rtlCol="0" anchor="ctr"/>
          <a:lstStyle/>
          <a:p>
            <a:pPr indent="0" marL="0">
              <a:buNone/>
            </a:pPr>
            <a:r>
              <a:rPr lang="en-US" sz="1500" b="1" spc="200" kern="0" dirty="0">
                <a:solidFill>
                  <a:srgbClr val="E8C77D"/>
                </a:solidFill>
                <a:latin typeface="Calibri" pitchFamily="34" charset="0"/>
                <a:ea typeface="Calibri" pitchFamily="34" charset="-122"/>
                <a:cs typeface="Calibri" pitchFamily="34" charset="-120"/>
              </a:rPr>
              <a:t>THE BUILDER</a:t>
            </a:r>
            <a:endParaRPr lang="en-US" sz="1500" dirty="0"/>
          </a:p>
        </p:txBody>
      </p:sp>
      <p:sp>
        <p:nvSpPr>
          <p:cNvPr id="9" name="Text 7"/>
          <p:cNvSpPr/>
          <p:nvPr/>
        </p:nvSpPr>
        <p:spPr>
          <a:xfrm>
            <a:off x="6583680" y="1965960"/>
            <a:ext cx="4663440" cy="54864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Claude Code / Grok build tool, on your laptop</a:t>
            </a:r>
            <a:endParaRPr lang="en-US" sz="1400" dirty="0"/>
          </a:p>
        </p:txBody>
      </p:sp>
      <p:sp>
        <p:nvSpPr>
          <p:cNvPr id="10" name="Text 8"/>
          <p:cNvSpPr/>
          <p:nvPr/>
        </p:nvSpPr>
        <p:spPr>
          <a:xfrm>
            <a:off x="6583680" y="2606040"/>
            <a:ext cx="4663440" cy="2651760"/>
          </a:xfrm>
          <a:prstGeom prst="rect">
            <a:avLst/>
          </a:prstGeom>
          <a:noFill/>
          <a:ln/>
        </p:spPr>
        <p:txBody>
          <a:bodyPr wrap="square" rtlCol="0" anchor="t"/>
          <a:lstStyle/>
          <a:p>
            <a:pPr indent="0" marL="0">
              <a:lnSpc>
                <a:spcPct val="108000"/>
              </a:lnSpc>
              <a:buNone/>
            </a:pPr>
            <a:r>
              <a:rPr lang="en-US" sz="1500" b="1" dirty="0">
                <a:solidFill>
                  <a:srgbClr val="FFFFFF"/>
                </a:solidFill>
                <a:latin typeface="Calibri" pitchFamily="34" charset="0"/>
                <a:ea typeface="Calibri" pitchFamily="34" charset="-122"/>
                <a:cs typeface="Calibri" pitchFamily="34" charset="-120"/>
              </a:rPr>
              <a:t>Works as YOU.</a:t>
            </a:r>
            <a:endParaRPr lang="en-US" sz="1500" dirty="0"/>
          </a:p>
          <a:p>
            <a:pPr indent="0" marL="0">
              <a:lnSpc>
                <a:spcPct val="108000"/>
              </a:lnSpc>
              <a:buNone/>
            </a:pPr>
            <a:r>
              <a:rPr lang="en-US" sz="1500" dirty="0">
                <a:solidFill>
                  <a:srgbClr val="E8EEF6"/>
                </a:solidFill>
                <a:latin typeface="Calibri" pitchFamily="34" charset="0"/>
                <a:ea typeface="Calibri" pitchFamily="34" charset="-122"/>
                <a:cs typeface="Calibri" pitchFamily="34" charset="-120"/>
              </a:rPr>
              <a:t>Once logged in it sees everything you see — files, repo, the live system — and can edit, test, ship.</a:t>
            </a:r>
            <a:endParaRPr lang="en-US" sz="1500" dirty="0"/>
          </a:p>
          <a:p>
            <a:pPr indent="0" marL="0">
              <a:lnSpc>
                <a:spcPct val="108000"/>
              </a:lnSpc>
              <a:buNone/>
            </a:pPr>
            <a:endParaRPr lang="en-US" sz="1500" dirty="0"/>
          </a:p>
          <a:p>
            <a:pPr indent="0" marL="0">
              <a:lnSpc>
                <a:spcPct val="108000"/>
              </a:lnSpc>
              <a:buNone/>
            </a:pPr>
            <a:r>
              <a:rPr lang="en-US" sz="1500" dirty="0">
                <a:solidFill>
                  <a:srgbClr val="E8EEF6"/>
                </a:solidFill>
                <a:latin typeface="Calibri" pitchFamily="34" charset="0"/>
                <a:ea typeface="Calibri" pitchFamily="34" charset="-122"/>
                <a:cs typeface="Calibri" pitchFamily="34" charset="-120"/>
              </a:rPr>
              <a:t>In the trenches. Right for DOING:</a:t>
            </a:r>
            <a:endParaRPr lang="en-US" sz="1500" dirty="0"/>
          </a:p>
          <a:p>
            <a:pPr indent="0" marL="0">
              <a:lnSpc>
                <a:spcPct val="108000"/>
              </a:lnSpc>
              <a:buNone/>
            </a:pPr>
            <a:r>
              <a:rPr lang="en-US" sz="1500" b="1" dirty="0">
                <a:solidFill>
                  <a:srgbClr val="FFFFFF"/>
                </a:solidFill>
                <a:latin typeface="Calibri" pitchFamily="34" charset="0"/>
                <a:ea typeface="Calibri" pitchFamily="34" charset="-122"/>
                <a:cs typeface="Calibri" pitchFamily="34" charset="-120"/>
              </a:rPr>
              <a:t>writing code, running tests, deploying.</a:t>
            </a:r>
            <a:endParaRPr lang="en-US" sz="1500" dirty="0"/>
          </a:p>
        </p:txBody>
      </p:sp>
      <p:sp>
        <p:nvSpPr>
          <p:cNvPr id="11" name="Text 9"/>
          <p:cNvSpPr/>
          <p:nvPr/>
        </p:nvSpPr>
        <p:spPr>
          <a:xfrm>
            <a:off x="640080" y="5669280"/>
            <a:ext cx="10881360" cy="640080"/>
          </a:xfrm>
          <a:prstGeom prst="rect">
            <a:avLst/>
          </a:prstGeom>
          <a:noFill/>
          <a:ln/>
        </p:spPr>
        <p:txBody>
          <a:bodyPr wrap="square" rtlCol="0" anchor="ctr"/>
          <a:lstStyle/>
          <a:p>
            <a:pPr algn="ctr" indent="0" marL="0">
              <a:buNone/>
            </a:pPr>
            <a:r>
              <a:rPr lang="en-US" sz="2000" b="1" i="1" dirty="0">
                <a:solidFill>
                  <a:srgbClr val="1F3A5F"/>
                </a:solidFill>
                <a:latin typeface="Cambria" pitchFamily="34" charset="0"/>
                <a:ea typeface="Cambria" pitchFamily="34" charset="-122"/>
                <a:cs typeface="Cambria" pitchFamily="34" charset="-120"/>
              </a:rPr>
              <a:t>Plan with the one that can't build. Build with the one that shouldn't plan.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82296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“Private” does not mean “my tools can't see it”</a:t>
            </a:r>
            <a:endParaRPr lang="en-US" sz="3200" dirty="0"/>
          </a:p>
        </p:txBody>
      </p:sp>
      <p:sp>
        <p:nvSpPr>
          <p:cNvPr id="3" name="Text 1"/>
          <p:cNvSpPr/>
          <p:nvPr/>
        </p:nvSpPr>
        <p:spPr>
          <a:xfrm>
            <a:off x="640080" y="1554480"/>
            <a:ext cx="10881360" cy="731520"/>
          </a:xfrm>
          <a:prstGeom prst="rect">
            <a:avLst/>
          </a:prstGeom>
          <a:noFill/>
          <a:ln/>
        </p:spPr>
        <p:txBody>
          <a:bodyPr wrap="square" rtlCol="0" anchor="ctr"/>
          <a:lstStyle/>
          <a:p>
            <a:pPr indent="0" marL="0">
              <a:lnSpc>
                <a:spcPct val="110000"/>
              </a:lnSpc>
              <a:buNone/>
            </a:pPr>
            <a:r>
              <a:rPr lang="en-US" sz="2200" dirty="0">
                <a:solidFill>
                  <a:srgbClr val="222B36"/>
                </a:solidFill>
                <a:latin typeface="Calibri" pitchFamily="34" charset="0"/>
                <a:ea typeface="Calibri" pitchFamily="34" charset="-122"/>
                <a:cs typeface="Calibri" pitchFamily="34" charset="-120"/>
              </a:rPr>
              <a:t>Your Builder sees a private repository fine </a:t>
            </a:r>
            <a:pPr indent="0" marL="0">
              <a:lnSpc>
                <a:spcPct val="110000"/>
              </a:lnSpc>
              <a:buNone/>
            </a:pPr>
            <a:r>
              <a:rPr lang="en-US" sz="2200" b="1" dirty="0">
                <a:solidFill>
                  <a:srgbClr val="1F3A5F"/>
                </a:solidFill>
                <a:latin typeface="Calibri" pitchFamily="34" charset="0"/>
                <a:ea typeface="Calibri" pitchFamily="34" charset="-122"/>
                <a:cs typeface="Calibri" pitchFamily="34" charset="-120"/>
              </a:rPr>
              <a:t>— it logs in as you.</a:t>
            </a:r>
            <a:endParaRPr lang="en-US" sz="2200" dirty="0"/>
          </a:p>
        </p:txBody>
      </p:sp>
      <p:sp>
        <p:nvSpPr>
          <p:cNvPr id="4" name="Text 2"/>
          <p:cNvSpPr/>
          <p:nvPr/>
        </p:nvSpPr>
        <p:spPr>
          <a:xfrm>
            <a:off x="640080" y="2468880"/>
            <a:ext cx="10881360" cy="640080"/>
          </a:xfrm>
          <a:prstGeom prst="rect">
            <a:avLst/>
          </a:prstGeom>
          <a:noFill/>
          <a:ln/>
        </p:spPr>
        <p:txBody>
          <a:bodyPr wrap="square" rtlCol="0" anchor="ctr"/>
          <a:lstStyle/>
          <a:p>
            <a:pPr indent="0" marL="0">
              <a:buNone/>
            </a:pPr>
            <a:r>
              <a:rPr lang="en-US" sz="2000" dirty="0">
                <a:solidFill>
                  <a:srgbClr val="3A4A5A"/>
                </a:solidFill>
                <a:latin typeface="Calibri" pitchFamily="34" charset="0"/>
                <a:ea typeface="Calibri" pitchFamily="34" charset="-122"/>
                <a:cs typeface="Calibri" pitchFamily="34" charset="-120"/>
              </a:rPr>
              <a:t>“Private” only means the rest of the world can't see it.</a:t>
            </a:r>
            <a:endParaRPr lang="en-US" sz="2000" dirty="0"/>
          </a:p>
        </p:txBody>
      </p:sp>
      <p:sp>
        <p:nvSpPr>
          <p:cNvPr id="5" name="Shape 3"/>
          <p:cNvSpPr/>
          <p:nvPr/>
        </p:nvSpPr>
        <p:spPr>
          <a:xfrm>
            <a:off x="640080" y="3566160"/>
            <a:ext cx="10881360" cy="1371600"/>
          </a:xfrm>
          <a:prstGeom prst="rect">
            <a:avLst/>
          </a:prstGeom>
          <a:solidFill>
            <a:srgbClr val="F4F1EA"/>
          </a:solidFill>
          <a:ln/>
        </p:spPr>
      </p:sp>
      <p:sp>
        <p:nvSpPr>
          <p:cNvPr id="6" name="Text 4"/>
          <p:cNvSpPr/>
          <p:nvPr/>
        </p:nvSpPr>
        <p:spPr>
          <a:xfrm>
            <a:off x="914400" y="3794760"/>
            <a:ext cx="10332720" cy="914400"/>
          </a:xfrm>
          <a:prstGeom prst="rect">
            <a:avLst/>
          </a:prstGeom>
          <a:noFill/>
          <a:ln/>
        </p:spPr>
        <p:txBody>
          <a:bodyPr wrap="square" rtlCol="0" anchor="ctr"/>
          <a:lstStyle/>
          <a:p>
            <a:pPr indent="0" marL="0">
              <a:lnSpc>
                <a:spcPct val="106000"/>
              </a:lnSpc>
              <a:buNone/>
            </a:pPr>
            <a:r>
              <a:rPr lang="en-US" sz="2000" b="1" dirty="0">
                <a:solidFill>
                  <a:srgbClr val="1F3A5F"/>
                </a:solidFill>
                <a:latin typeface="Calibri" pitchFamily="34" charset="0"/>
                <a:ea typeface="Calibri" pitchFamily="34" charset="-122"/>
                <a:cs typeface="Calibri" pitchFamily="34" charset="-120"/>
              </a:rPr>
              <a:t>So everything you build is PRIVATE. Always.  </a:t>
            </a:r>
            <a:pPr indent="0" marL="0">
              <a:lnSpc>
                <a:spcPct val="106000"/>
              </a:lnSpc>
              <a:buNone/>
            </a:pPr>
            <a:r>
              <a:rPr lang="en-US" sz="1700" i="1" dirty="0">
                <a:solidFill>
                  <a:srgbClr val="3A4A5A"/>
                </a:solidFill>
                <a:latin typeface="Calibri" pitchFamily="34" charset="0"/>
                <a:ea typeface="Calibri" pitchFamily="34" charset="-122"/>
                <a:cs typeface="Calibri" pitchFamily="34" charset="-120"/>
              </a:rPr>
              <a:t>Public exposes your work to the entire internet to solve an access problem that private never had.</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A5F"/>
        </a:solidFill>
      </p:bgPr>
    </p:bg>
    <p:spTree>
      <p:nvGrpSpPr>
        <p:cNvPr id="1" name=""/>
        <p:cNvGrpSpPr/>
        <p:nvPr/>
      </p:nvGrpSpPr>
      <p:grpSpPr>
        <a:xfrm>
          <a:off x="0" y="0"/>
          <a:ext cx="0" cy="0"/>
          <a:chOff x="0" y="0"/>
          <a:chExt cx="0" cy="0"/>
        </a:xfrm>
      </p:grpSpPr>
      <p:sp>
        <p:nvSpPr>
          <p:cNvPr id="3" name="Shape 0"/>
          <p:cNvSpPr/>
          <p:nvPr/>
        </p:nvSpPr>
        <p:spPr>
          <a:xfrm>
            <a:off x="0" y="0"/>
            <a:ext cx="12161520" cy="6858000"/>
          </a:xfrm>
          <a:prstGeom prst="rect">
            <a:avLst/>
          </a:prstGeom>
          <a:solidFill>
            <a:srgbClr val="1F3A5F"/>
          </a:solidFill>
          <a:ln/>
        </p:spPr>
      </p:sp>
      <p:sp>
        <p:nvSpPr>
          <p:cNvPr id="4" name="Text 1"/>
          <p:cNvSpPr/>
          <p:nvPr/>
        </p:nvSpPr>
        <p:spPr>
          <a:xfrm>
            <a:off x="822960" y="1874520"/>
            <a:ext cx="10515600" cy="365760"/>
          </a:xfrm>
          <a:prstGeom prst="rect">
            <a:avLst/>
          </a:prstGeom>
          <a:noFill/>
          <a:ln/>
        </p:spPr>
        <p:txBody>
          <a:bodyPr wrap="square" rtlCol="0" anchor="ctr"/>
          <a:lstStyle/>
          <a:p>
            <a:pPr indent="0" marL="0">
              <a:buNone/>
            </a:pPr>
            <a:r>
              <a:rPr lang="en-US" sz="1600" b="1" spc="300" kern="0" dirty="0">
                <a:solidFill>
                  <a:srgbClr val="8A6D3B"/>
                </a:solidFill>
                <a:latin typeface="Calibri" pitchFamily="34" charset="0"/>
                <a:ea typeface="Calibri" pitchFamily="34" charset="-122"/>
                <a:cs typeface="Calibri" pitchFamily="34" charset="-120"/>
              </a:rPr>
              <a:t>THE CORE</a:t>
            </a:r>
            <a:endParaRPr lang="en-US" sz="1600" dirty="0"/>
          </a:p>
        </p:txBody>
      </p:sp>
      <p:sp>
        <p:nvSpPr>
          <p:cNvPr id="5" name="Text 2"/>
          <p:cNvSpPr/>
          <p:nvPr/>
        </p:nvSpPr>
        <p:spPr>
          <a:xfrm>
            <a:off x="822960" y="2194560"/>
            <a:ext cx="10515600" cy="1737360"/>
          </a:xfrm>
          <a:prstGeom prst="rect">
            <a:avLst/>
          </a:prstGeom>
          <a:noFill/>
          <a:ln/>
        </p:spPr>
        <p:txBody>
          <a:bodyPr wrap="square"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The seven principles</a:t>
            </a:r>
            <a:endParaRPr lang="en-US" sz="4600" dirty="0"/>
          </a:p>
        </p:txBody>
      </p:sp>
      <p:sp>
        <p:nvSpPr>
          <p:cNvPr id="6" name="Text 3"/>
          <p:cNvSpPr/>
          <p:nvPr/>
        </p:nvSpPr>
        <p:spPr>
          <a:xfrm>
            <a:off x="822960" y="4114800"/>
            <a:ext cx="10058400" cy="1097280"/>
          </a:xfrm>
          <a:prstGeom prst="rect">
            <a:avLst/>
          </a:prstGeom>
          <a:noFill/>
          <a:ln/>
        </p:spPr>
        <p:txBody>
          <a:bodyPr wrap="square" rtlCol="0" anchor="ctr"/>
          <a:lstStyle/>
          <a:p>
            <a:pPr indent="0" marL="0">
              <a:lnSpc>
                <a:spcPct val="105000"/>
              </a:lnSpc>
              <a:buNone/>
            </a:pPr>
            <a:r>
              <a:rPr lang="en-US" sz="2000" i="1" dirty="0">
                <a:solidFill>
                  <a:srgbClr val="CADCFC"/>
                </a:solidFill>
                <a:latin typeface="Calibri" pitchFamily="34" charset="0"/>
                <a:ea typeface="Calibri" pitchFamily="34" charset="-122"/>
                <a:cs typeface="Calibri" pitchFamily="34" charset="-120"/>
              </a:rPr>
              <a:t>Each one learned the hard way. Each with the scar that earned it.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457200"/>
            <a:ext cx="10972800" cy="82296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Principles 1–2</a:t>
            </a:r>
            <a:endParaRPr lang="en-US" sz="3200" dirty="0"/>
          </a:p>
        </p:txBody>
      </p:sp>
      <p:sp>
        <p:nvSpPr>
          <p:cNvPr id="4" name="Shape 1"/>
          <p:cNvSpPr/>
          <p:nvPr/>
        </p:nvSpPr>
        <p:spPr>
          <a:xfrm>
            <a:off x="640080" y="1463040"/>
            <a:ext cx="502920" cy="502920"/>
          </a:xfrm>
          <a:prstGeom prst="rect">
            <a:avLst/>
          </a:prstGeom>
          <a:solidFill>
            <a:srgbClr val="1F3A5F"/>
          </a:solidFill>
          <a:ln/>
        </p:spPr>
      </p:sp>
      <p:sp>
        <p:nvSpPr>
          <p:cNvPr id="5"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Text 3"/>
          <p:cNvSpPr/>
          <p:nvPr/>
        </p:nvSpPr>
        <p:spPr>
          <a:xfrm>
            <a:off x="1325880" y="1444752"/>
            <a:ext cx="10149840" cy="50292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One canonical copy. Exactly one.</a:t>
            </a:r>
            <a:endParaRPr lang="en-US" sz="1900" dirty="0"/>
          </a:p>
        </p:txBody>
      </p:sp>
      <p:sp>
        <p:nvSpPr>
          <p:cNvPr id="7" name="Text 4"/>
          <p:cNvSpPr/>
          <p:nvPr/>
        </p:nvSpPr>
        <p:spPr>
          <a:xfrm>
            <a:off x="1325880" y="1965960"/>
            <a:ext cx="10149840" cy="640080"/>
          </a:xfrm>
          <a:prstGeom prst="rect">
            <a:avLst/>
          </a:prstGeom>
          <a:noFill/>
          <a:ln/>
        </p:spPr>
        <p:txBody>
          <a:bodyPr wrap="square" lIns="0" tIns="0" rIns="0" bIns="0" rtlCol="0" anchor="ctr"/>
          <a:lstStyle/>
          <a:p>
            <a:pPr indent="0" marL="0">
              <a:lnSpc>
                <a:spcPct val="104000"/>
              </a:lnSpc>
              <a:buNone/>
            </a:pPr>
            <a:r>
              <a:rPr lang="en-US" sz="1450" dirty="0">
                <a:solidFill>
                  <a:srgbClr val="3A4A5A"/>
                </a:solidFill>
                <a:latin typeface="Calibri" pitchFamily="34" charset="0"/>
                <a:ea typeface="Calibri" pitchFamily="34" charset="-122"/>
                <a:cs typeface="Calibri" pitchFamily="34" charset="-120"/>
              </a:rPr>
              <a:t>A version-controlled repository with an offsite copy, from day one. No “backup folder,” no pile of snapshots. The place you edit is the one true place.</a:t>
            </a:r>
            <a:endParaRPr lang="en-US" sz="1450" dirty="0"/>
          </a:p>
        </p:txBody>
      </p:sp>
      <p:sp>
        <p:nvSpPr>
          <p:cNvPr id="8" name="Shape 5"/>
          <p:cNvSpPr/>
          <p:nvPr/>
        </p:nvSpPr>
        <p:spPr>
          <a:xfrm>
            <a:off x="1325880" y="2633472"/>
            <a:ext cx="10149840" cy="868680"/>
          </a:xfrm>
          <a:prstGeom prst="rect">
            <a:avLst/>
          </a:prstGeom>
          <a:solidFill>
            <a:srgbClr val="F6EEEE"/>
          </a:solidFill>
          <a:ln w="12700">
            <a:solidFill>
              <a:srgbClr val="7A2E2E"/>
            </a:solidFill>
            <a:prstDash val="solid"/>
          </a:ln>
        </p:spPr>
      </p:sp>
      <p:sp>
        <p:nvSpPr>
          <p:cNvPr id="9" name="Text 6"/>
          <p:cNvSpPr/>
          <p:nvPr/>
        </p:nvSpPr>
        <p:spPr>
          <a:xfrm>
            <a:off x="1508760" y="2743200"/>
            <a:ext cx="9784080" cy="649224"/>
          </a:xfrm>
          <a:prstGeom prst="rect">
            <a:avLst/>
          </a:prstGeom>
          <a:noFill/>
          <a:ln/>
        </p:spPr>
        <p:txBody>
          <a:bodyPr wrap="square" rtlCol="0" anchor="ctr"/>
          <a:lstStyle/>
          <a:p>
            <a:pPr indent="0" marL="0">
              <a:lnSpc>
                <a:spcPct val="102000"/>
              </a:lnSpc>
              <a:buNone/>
            </a:pPr>
            <a:r>
              <a:rPr lang="en-US" sz="1300" b="1" dirty="0">
                <a:solidFill>
                  <a:srgbClr val="7A2E2E"/>
                </a:solidFill>
                <a:latin typeface="Calibri" pitchFamily="34" charset="0"/>
                <a:ea typeface="Calibri" pitchFamily="34" charset="-122"/>
                <a:cs typeface="Calibri" pitchFamily="34" charset="-120"/>
              </a:rPr>
              <a:t>PAID FOR IN BLOOD.  </a:t>
            </a:r>
            <a:pPr indent="0" marL="0">
              <a:lnSpc>
                <a:spcPct val="102000"/>
              </a:lnSpc>
              <a:buNone/>
            </a:pPr>
            <a:r>
              <a:rPr lang="en-US" sz="1300" i="1" dirty="0">
                <a:solidFill>
                  <a:srgbClr val="7A2E2E"/>
                </a:solidFill>
                <a:latin typeface="Calibri" pitchFamily="34" charset="0"/>
                <a:ea typeface="Calibri" pitchFamily="34" charset="-122"/>
                <a:cs typeface="Calibri" pitchFamily="34" charset="-120"/>
              </a:rPr>
              <a:t>Fourteen near-identical snapshot folders — we nearly edited a dead one. A whole feature existed ONLY on the running server, committed nowhere. One power-cycle from gone.</a:t>
            </a:r>
            <a:endParaRPr lang="en-US" sz="1300" dirty="0"/>
          </a:p>
        </p:txBody>
      </p:sp>
      <p:sp>
        <p:nvSpPr>
          <p:cNvPr id="10" name="Shape 7"/>
          <p:cNvSpPr/>
          <p:nvPr/>
        </p:nvSpPr>
        <p:spPr>
          <a:xfrm>
            <a:off x="640080" y="3794760"/>
            <a:ext cx="502920" cy="502920"/>
          </a:xfrm>
          <a:prstGeom prst="rect">
            <a:avLst/>
          </a:prstGeom>
          <a:solidFill>
            <a:srgbClr val="1F3A5F"/>
          </a:solidFill>
          <a:ln/>
        </p:spPr>
      </p:sp>
      <p:sp>
        <p:nvSpPr>
          <p:cNvPr id="11" name="Text 8"/>
          <p:cNvSpPr/>
          <p:nvPr/>
        </p:nvSpPr>
        <p:spPr>
          <a:xfrm>
            <a:off x="640080" y="379476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9"/>
          <p:cNvSpPr/>
          <p:nvPr/>
        </p:nvSpPr>
        <p:spPr>
          <a:xfrm>
            <a:off x="1325880" y="3776472"/>
            <a:ext cx="10149840" cy="50292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Tests guard deployment. Always. From the first change.</a:t>
            </a:r>
            <a:endParaRPr lang="en-US" sz="1900" dirty="0"/>
          </a:p>
        </p:txBody>
      </p:sp>
      <p:sp>
        <p:nvSpPr>
          <p:cNvPr id="13" name="Text 10"/>
          <p:cNvSpPr/>
          <p:nvPr/>
        </p:nvSpPr>
        <p:spPr>
          <a:xfrm>
            <a:off x="1325880" y="4297680"/>
            <a:ext cx="10149840" cy="640080"/>
          </a:xfrm>
          <a:prstGeom prst="rect">
            <a:avLst/>
          </a:prstGeom>
          <a:noFill/>
          <a:ln/>
        </p:spPr>
        <p:txBody>
          <a:bodyPr wrap="square" lIns="0" tIns="0" rIns="0" bIns="0" rtlCol="0" anchor="ctr"/>
          <a:lstStyle/>
          <a:p>
            <a:pPr indent="0" marL="0">
              <a:lnSpc>
                <a:spcPct val="104000"/>
              </a:lnSpc>
              <a:buNone/>
            </a:pPr>
            <a:r>
              <a:rPr lang="en-US" sz="1450" dirty="0">
                <a:solidFill>
                  <a:srgbClr val="3A4A5A"/>
                </a:solidFill>
                <a:latin typeface="Calibri" pitchFamily="34" charset="0"/>
                <a:ea typeface="Calibri" pitchFamily="34" charset="-122"/>
                <a:cs typeface="Calibri" pitchFamily="34" charset="-120"/>
              </a:rPr>
              <a:t>A broken build must be physically unable to reach production. Automatic — not a habit you rely on remembering.</a:t>
            </a:r>
            <a:endParaRPr lang="en-US" sz="1450" dirty="0"/>
          </a:p>
        </p:txBody>
      </p:sp>
      <p:sp>
        <p:nvSpPr>
          <p:cNvPr id="14" name="Shape 11"/>
          <p:cNvSpPr/>
          <p:nvPr/>
        </p:nvSpPr>
        <p:spPr>
          <a:xfrm>
            <a:off x="1325880" y="4965192"/>
            <a:ext cx="10149840" cy="868680"/>
          </a:xfrm>
          <a:prstGeom prst="rect">
            <a:avLst/>
          </a:prstGeom>
          <a:solidFill>
            <a:srgbClr val="F6EEEE"/>
          </a:solidFill>
          <a:ln w="12700">
            <a:solidFill>
              <a:srgbClr val="7A2E2E"/>
            </a:solidFill>
            <a:prstDash val="solid"/>
          </a:ln>
        </p:spPr>
      </p:sp>
      <p:sp>
        <p:nvSpPr>
          <p:cNvPr id="15" name="Text 12"/>
          <p:cNvSpPr/>
          <p:nvPr/>
        </p:nvSpPr>
        <p:spPr>
          <a:xfrm>
            <a:off x="1508760" y="5074920"/>
            <a:ext cx="9784080" cy="649224"/>
          </a:xfrm>
          <a:prstGeom prst="rect">
            <a:avLst/>
          </a:prstGeom>
          <a:noFill/>
          <a:ln/>
        </p:spPr>
        <p:txBody>
          <a:bodyPr wrap="square" rtlCol="0" anchor="ctr"/>
          <a:lstStyle/>
          <a:p>
            <a:pPr indent="0" marL="0">
              <a:lnSpc>
                <a:spcPct val="102000"/>
              </a:lnSpc>
              <a:buNone/>
            </a:pPr>
            <a:r>
              <a:rPr lang="en-US" sz="1300" b="1" dirty="0">
                <a:solidFill>
                  <a:srgbClr val="7A2E2E"/>
                </a:solidFill>
                <a:latin typeface="Calibri" pitchFamily="34" charset="0"/>
                <a:ea typeface="Calibri" pitchFamily="34" charset="-122"/>
                <a:cs typeface="Calibri" pitchFamily="34" charset="-120"/>
              </a:rPr>
              <a:t>PAID FOR IN BLOOD.  </a:t>
            </a:r>
            <a:pPr indent="0" marL="0">
              <a:lnSpc>
                <a:spcPct val="102000"/>
              </a:lnSpc>
              <a:buNone/>
            </a:pPr>
            <a:r>
              <a:rPr lang="en-US" sz="1300" i="1" dirty="0">
                <a:solidFill>
                  <a:srgbClr val="7A2E2E"/>
                </a:solidFill>
                <a:latin typeface="Calibri" pitchFamily="34" charset="0"/>
                <a:ea typeface="Calibri" pitchFamily="34" charset="-122"/>
                <a:cs typeface="Calibri" pitchFamily="34" charset="-120"/>
              </a:rPr>
              <a:t>For weeks, anything we pushed could reach production whether it worked or not. One bad afternoon from shipping a broken build to the system we depend on daily.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457200"/>
            <a:ext cx="10972800" cy="82296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Principles 3–4</a:t>
            </a:r>
            <a:endParaRPr lang="en-US" sz="3200" dirty="0"/>
          </a:p>
        </p:txBody>
      </p:sp>
      <p:sp>
        <p:nvSpPr>
          <p:cNvPr id="4" name="Shape 1"/>
          <p:cNvSpPr/>
          <p:nvPr/>
        </p:nvSpPr>
        <p:spPr>
          <a:xfrm>
            <a:off x="640080" y="1463040"/>
            <a:ext cx="502920" cy="502920"/>
          </a:xfrm>
          <a:prstGeom prst="rect">
            <a:avLst/>
          </a:prstGeom>
          <a:solidFill>
            <a:srgbClr val="1F3A5F"/>
          </a:solidFill>
          <a:ln/>
        </p:spPr>
      </p:sp>
      <p:sp>
        <p:nvSpPr>
          <p:cNvPr id="5"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6" name="Text 3"/>
          <p:cNvSpPr/>
          <p:nvPr/>
        </p:nvSpPr>
        <p:spPr>
          <a:xfrm>
            <a:off x="1325880" y="1444752"/>
            <a:ext cx="10149840" cy="50292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Deployment is automated, never by hand.</a:t>
            </a:r>
            <a:endParaRPr lang="en-US" sz="1900" dirty="0"/>
          </a:p>
        </p:txBody>
      </p:sp>
      <p:sp>
        <p:nvSpPr>
          <p:cNvPr id="7" name="Text 4"/>
          <p:cNvSpPr/>
          <p:nvPr/>
        </p:nvSpPr>
        <p:spPr>
          <a:xfrm>
            <a:off x="1325880" y="1965960"/>
            <a:ext cx="10149840" cy="640080"/>
          </a:xfrm>
          <a:prstGeom prst="rect">
            <a:avLst/>
          </a:prstGeom>
          <a:noFill/>
          <a:ln/>
        </p:spPr>
        <p:txBody>
          <a:bodyPr wrap="square" lIns="0" tIns="0" rIns="0" bIns="0" rtlCol="0" anchor="ctr"/>
          <a:lstStyle/>
          <a:p>
            <a:pPr indent="0" marL="0">
              <a:lnSpc>
                <a:spcPct val="104000"/>
              </a:lnSpc>
              <a:buNone/>
            </a:pPr>
            <a:r>
              <a:rPr lang="en-US" sz="1450" dirty="0">
                <a:solidFill>
                  <a:srgbClr val="3A4A5A"/>
                </a:solidFill>
                <a:latin typeface="Calibri" pitchFamily="34" charset="0"/>
                <a:ea typeface="Calibri" pitchFamily="34" charset="-122"/>
                <a:cs typeface="Calibri" pitchFamily="34" charset="-120"/>
              </a:rPr>
              <a:t>Merging your approved work is what ships it — not you running a command and hoping. Manual deploy is break-glass only.</a:t>
            </a:r>
            <a:endParaRPr lang="en-US" sz="1450" dirty="0"/>
          </a:p>
        </p:txBody>
      </p:sp>
      <p:sp>
        <p:nvSpPr>
          <p:cNvPr id="8" name="Shape 5"/>
          <p:cNvSpPr/>
          <p:nvPr/>
        </p:nvSpPr>
        <p:spPr>
          <a:xfrm>
            <a:off x="1325880" y="2633472"/>
            <a:ext cx="10149840" cy="868680"/>
          </a:xfrm>
          <a:prstGeom prst="rect">
            <a:avLst/>
          </a:prstGeom>
          <a:solidFill>
            <a:srgbClr val="F6EEEE"/>
          </a:solidFill>
          <a:ln w="12700">
            <a:solidFill>
              <a:srgbClr val="7A2E2E"/>
            </a:solidFill>
            <a:prstDash val="solid"/>
          </a:ln>
        </p:spPr>
      </p:sp>
      <p:sp>
        <p:nvSpPr>
          <p:cNvPr id="9" name="Text 6"/>
          <p:cNvSpPr/>
          <p:nvPr/>
        </p:nvSpPr>
        <p:spPr>
          <a:xfrm>
            <a:off x="1508760" y="2743200"/>
            <a:ext cx="9784080" cy="649224"/>
          </a:xfrm>
          <a:prstGeom prst="rect">
            <a:avLst/>
          </a:prstGeom>
          <a:noFill/>
          <a:ln/>
        </p:spPr>
        <p:txBody>
          <a:bodyPr wrap="square" rtlCol="0" anchor="ctr"/>
          <a:lstStyle/>
          <a:p>
            <a:pPr indent="0" marL="0">
              <a:lnSpc>
                <a:spcPct val="102000"/>
              </a:lnSpc>
              <a:buNone/>
            </a:pPr>
            <a:r>
              <a:rPr lang="en-US" sz="1300" b="1" dirty="0">
                <a:solidFill>
                  <a:srgbClr val="7A2E2E"/>
                </a:solidFill>
                <a:latin typeface="Calibri" pitchFamily="34" charset="0"/>
                <a:ea typeface="Calibri" pitchFamily="34" charset="-122"/>
                <a:cs typeface="Calibri" pitchFamily="34" charset="-120"/>
              </a:rPr>
              <a:t>PAID FOR IN BLOOD.  </a:t>
            </a:r>
            <a:pPr indent="0" marL="0">
              <a:lnSpc>
                <a:spcPct val="102000"/>
              </a:lnSpc>
              <a:buNone/>
            </a:pPr>
            <a:r>
              <a:rPr lang="en-US" sz="1300" i="1" dirty="0">
                <a:solidFill>
                  <a:srgbClr val="7A2E2E"/>
                </a:solidFill>
                <a:latin typeface="Calibri" pitchFamily="34" charset="0"/>
                <a:ea typeface="Calibri" pitchFamily="34" charset="-122"/>
                <a:cs typeface="Calibri" pitchFamily="34" charset="-120"/>
              </a:rPr>
              <a:t>We deployed by hand for weeks while the automatic deploy we THOUGHT we had sat silently broken the entire time. Nobody knew, because nothing told us.</a:t>
            </a:r>
            <a:endParaRPr lang="en-US" sz="1300" dirty="0"/>
          </a:p>
        </p:txBody>
      </p:sp>
      <p:sp>
        <p:nvSpPr>
          <p:cNvPr id="10" name="Shape 7"/>
          <p:cNvSpPr/>
          <p:nvPr/>
        </p:nvSpPr>
        <p:spPr>
          <a:xfrm>
            <a:off x="640080" y="3794760"/>
            <a:ext cx="502920" cy="502920"/>
          </a:xfrm>
          <a:prstGeom prst="rect">
            <a:avLst/>
          </a:prstGeom>
          <a:solidFill>
            <a:srgbClr val="1F3A5F"/>
          </a:solidFill>
          <a:ln/>
        </p:spPr>
      </p:sp>
      <p:sp>
        <p:nvSpPr>
          <p:cNvPr id="11" name="Text 8"/>
          <p:cNvSpPr/>
          <p:nvPr/>
        </p:nvSpPr>
        <p:spPr>
          <a:xfrm>
            <a:off x="640080" y="379476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2" name="Text 9"/>
          <p:cNvSpPr/>
          <p:nvPr/>
        </p:nvSpPr>
        <p:spPr>
          <a:xfrm>
            <a:off x="1325880" y="3776472"/>
            <a:ext cx="10149840" cy="50292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Secrets live in the platform, never in the code.</a:t>
            </a:r>
            <a:endParaRPr lang="en-US" sz="1900" dirty="0"/>
          </a:p>
        </p:txBody>
      </p:sp>
      <p:sp>
        <p:nvSpPr>
          <p:cNvPr id="13" name="Text 10"/>
          <p:cNvSpPr/>
          <p:nvPr/>
        </p:nvSpPr>
        <p:spPr>
          <a:xfrm>
            <a:off x="1325880" y="4297680"/>
            <a:ext cx="10149840" cy="640080"/>
          </a:xfrm>
          <a:prstGeom prst="rect">
            <a:avLst/>
          </a:prstGeom>
          <a:noFill/>
          <a:ln/>
        </p:spPr>
        <p:txBody>
          <a:bodyPr wrap="square" lIns="0" tIns="0" rIns="0" bIns="0" rtlCol="0" anchor="ctr"/>
          <a:lstStyle/>
          <a:p>
            <a:pPr indent="0" marL="0">
              <a:lnSpc>
                <a:spcPct val="104000"/>
              </a:lnSpc>
              <a:buNone/>
            </a:pPr>
            <a:r>
              <a:rPr lang="en-US" sz="1450" dirty="0">
                <a:solidFill>
                  <a:srgbClr val="3A4A5A"/>
                </a:solidFill>
                <a:latin typeface="Calibri" pitchFamily="34" charset="0"/>
                <a:ea typeface="Calibri" pitchFamily="34" charset="-122"/>
                <a:cs typeface="Calibri" pitchFamily="34" charset="-120"/>
              </a:rPr>
              <a:t>Passwords, keys, tokens live in the hosting platform, referenced by name. Never in a file, never committed, never pasted into a chat.</a:t>
            </a:r>
            <a:endParaRPr lang="en-US" sz="1450" dirty="0"/>
          </a:p>
        </p:txBody>
      </p:sp>
      <p:sp>
        <p:nvSpPr>
          <p:cNvPr id="14" name="Shape 11"/>
          <p:cNvSpPr/>
          <p:nvPr/>
        </p:nvSpPr>
        <p:spPr>
          <a:xfrm>
            <a:off x="1325880" y="4965192"/>
            <a:ext cx="10149840" cy="868680"/>
          </a:xfrm>
          <a:prstGeom prst="rect">
            <a:avLst/>
          </a:prstGeom>
          <a:solidFill>
            <a:srgbClr val="F6EEEE"/>
          </a:solidFill>
          <a:ln w="12700">
            <a:solidFill>
              <a:srgbClr val="7A2E2E"/>
            </a:solidFill>
            <a:prstDash val="solid"/>
          </a:ln>
        </p:spPr>
      </p:sp>
      <p:sp>
        <p:nvSpPr>
          <p:cNvPr id="15" name="Text 12"/>
          <p:cNvSpPr/>
          <p:nvPr/>
        </p:nvSpPr>
        <p:spPr>
          <a:xfrm>
            <a:off x="1508760" y="5074920"/>
            <a:ext cx="9784080" cy="649224"/>
          </a:xfrm>
          <a:prstGeom prst="rect">
            <a:avLst/>
          </a:prstGeom>
          <a:noFill/>
          <a:ln/>
        </p:spPr>
        <p:txBody>
          <a:bodyPr wrap="square" rtlCol="0" anchor="ctr"/>
          <a:lstStyle/>
          <a:p>
            <a:pPr indent="0" marL="0">
              <a:lnSpc>
                <a:spcPct val="102000"/>
              </a:lnSpc>
              <a:buNone/>
            </a:pPr>
            <a:r>
              <a:rPr lang="en-US" sz="1300" b="1" dirty="0">
                <a:solidFill>
                  <a:srgbClr val="7A2E2E"/>
                </a:solidFill>
                <a:latin typeface="Calibri" pitchFamily="34" charset="0"/>
                <a:ea typeface="Calibri" pitchFamily="34" charset="-122"/>
                <a:cs typeface="Calibri" pitchFamily="34" charset="-120"/>
              </a:rPr>
              <a:t>PAID FOR IN BLOOD.  </a:t>
            </a:r>
            <a:pPr indent="0" marL="0">
              <a:lnSpc>
                <a:spcPct val="102000"/>
              </a:lnSpc>
              <a:buNone/>
            </a:pPr>
            <a:r>
              <a:rPr lang="en-US" sz="1300" i="1" dirty="0">
                <a:solidFill>
                  <a:srgbClr val="7A2E2E"/>
                </a:solidFill>
                <a:latin typeface="Calibri" pitchFamily="34" charset="0"/>
                <a:ea typeface="Calibri" pitchFamily="34" charset="-122"/>
                <a:cs typeface="Calibri" pitchFamily="34" charset="-120"/>
              </a:rPr>
              <a:t>The deploy was dead for one stupid reason — a single secret saved under the wrong NAME. One typo, and the whole safety system sat there looking fine. An afternoon gone.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457200"/>
            <a:ext cx="10972800" cy="82296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Principles 5–6</a:t>
            </a:r>
            <a:endParaRPr lang="en-US" sz="3200" dirty="0"/>
          </a:p>
        </p:txBody>
      </p:sp>
      <p:sp>
        <p:nvSpPr>
          <p:cNvPr id="4" name="Shape 1"/>
          <p:cNvSpPr/>
          <p:nvPr/>
        </p:nvSpPr>
        <p:spPr>
          <a:xfrm>
            <a:off x="640080" y="1463040"/>
            <a:ext cx="502920" cy="502920"/>
          </a:xfrm>
          <a:prstGeom prst="rect">
            <a:avLst/>
          </a:prstGeom>
          <a:solidFill>
            <a:srgbClr val="1F3A5F"/>
          </a:solidFill>
          <a:ln/>
        </p:spPr>
      </p:sp>
      <p:sp>
        <p:nvSpPr>
          <p:cNvPr id="5"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6" name="Text 3"/>
          <p:cNvSpPr/>
          <p:nvPr/>
        </p:nvSpPr>
        <p:spPr>
          <a:xfrm>
            <a:off x="1325880" y="1444752"/>
            <a:ext cx="10149840" cy="50292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Tests must be self-contained — no live services, no network.</a:t>
            </a:r>
            <a:endParaRPr lang="en-US" sz="1900" dirty="0"/>
          </a:p>
        </p:txBody>
      </p:sp>
      <p:sp>
        <p:nvSpPr>
          <p:cNvPr id="7" name="Text 4"/>
          <p:cNvSpPr/>
          <p:nvPr/>
        </p:nvSpPr>
        <p:spPr>
          <a:xfrm>
            <a:off x="1325880" y="1965960"/>
            <a:ext cx="10149840" cy="640080"/>
          </a:xfrm>
          <a:prstGeom prst="rect">
            <a:avLst/>
          </a:prstGeom>
          <a:noFill/>
          <a:ln/>
        </p:spPr>
        <p:txBody>
          <a:bodyPr wrap="square" lIns="0" tIns="0" rIns="0" bIns="0" rtlCol="0" anchor="ctr"/>
          <a:lstStyle/>
          <a:p>
            <a:pPr indent="0" marL="0">
              <a:lnSpc>
                <a:spcPct val="104000"/>
              </a:lnSpc>
              <a:buNone/>
            </a:pPr>
            <a:r>
              <a:rPr lang="en-US" sz="1450" dirty="0">
                <a:solidFill>
                  <a:srgbClr val="3A4A5A"/>
                </a:solidFill>
                <a:latin typeface="Calibri" pitchFamily="34" charset="0"/>
                <a:ea typeface="Calibri" pitchFamily="34" charset="-122"/>
                <a:cs typeface="Calibri" pitchFamily="34" charset="-120"/>
              </a:rPr>
              <a:t>The suite brings its own isolated world. That's what makes testing instant, free, and trustworthy. Do this one first.</a:t>
            </a:r>
            <a:endParaRPr lang="en-US" sz="1450" dirty="0"/>
          </a:p>
        </p:txBody>
      </p:sp>
      <p:sp>
        <p:nvSpPr>
          <p:cNvPr id="8" name="Shape 5"/>
          <p:cNvSpPr/>
          <p:nvPr/>
        </p:nvSpPr>
        <p:spPr>
          <a:xfrm>
            <a:off x="1325880" y="2633472"/>
            <a:ext cx="10149840" cy="868680"/>
          </a:xfrm>
          <a:prstGeom prst="rect">
            <a:avLst/>
          </a:prstGeom>
          <a:solidFill>
            <a:srgbClr val="F6EEEE"/>
          </a:solidFill>
          <a:ln w="12700">
            <a:solidFill>
              <a:srgbClr val="7A2E2E"/>
            </a:solidFill>
            <a:prstDash val="solid"/>
          </a:ln>
        </p:spPr>
      </p:sp>
      <p:sp>
        <p:nvSpPr>
          <p:cNvPr id="9" name="Text 6"/>
          <p:cNvSpPr/>
          <p:nvPr/>
        </p:nvSpPr>
        <p:spPr>
          <a:xfrm>
            <a:off x="1508760" y="2743200"/>
            <a:ext cx="9784080" cy="649224"/>
          </a:xfrm>
          <a:prstGeom prst="rect">
            <a:avLst/>
          </a:prstGeom>
          <a:noFill/>
          <a:ln/>
        </p:spPr>
        <p:txBody>
          <a:bodyPr wrap="square" rtlCol="0" anchor="ctr"/>
          <a:lstStyle/>
          <a:p>
            <a:pPr indent="0" marL="0">
              <a:lnSpc>
                <a:spcPct val="102000"/>
              </a:lnSpc>
              <a:buNone/>
            </a:pPr>
            <a:r>
              <a:rPr lang="en-US" sz="1300" b="1" dirty="0">
                <a:solidFill>
                  <a:srgbClr val="7A2E2E"/>
                </a:solidFill>
                <a:latin typeface="Calibri" pitchFamily="34" charset="0"/>
                <a:ea typeface="Calibri" pitchFamily="34" charset="-122"/>
                <a:cs typeface="Calibri" pitchFamily="34" charset="-120"/>
              </a:rPr>
              <a:t>PAID FOR IN BLOOD.  </a:t>
            </a:r>
            <a:pPr indent="0" marL="0">
              <a:lnSpc>
                <a:spcPct val="102000"/>
              </a:lnSpc>
              <a:buNone/>
            </a:pPr>
            <a:r>
              <a:rPr lang="en-US" sz="1300" i="1" dirty="0">
                <a:solidFill>
                  <a:srgbClr val="7A2E2E"/>
                </a:solidFill>
                <a:latin typeface="Calibri" pitchFamily="34" charset="0"/>
                <a:ea typeface="Calibri" pitchFamily="34" charset="-122"/>
                <a:cs typeface="Calibri" pitchFamily="34" charset="-120"/>
              </a:rPr>
              <a:t>Cost us nothing — and that's the point. Because our tests need no passwords and no internet, the whole safety system was trivial to build and runs in seconds. The one we got right early.</a:t>
            </a:r>
            <a:endParaRPr lang="en-US" sz="1300" dirty="0"/>
          </a:p>
        </p:txBody>
      </p:sp>
      <p:sp>
        <p:nvSpPr>
          <p:cNvPr id="10" name="Shape 7"/>
          <p:cNvSpPr/>
          <p:nvPr/>
        </p:nvSpPr>
        <p:spPr>
          <a:xfrm>
            <a:off x="640080" y="3794760"/>
            <a:ext cx="502920" cy="502920"/>
          </a:xfrm>
          <a:prstGeom prst="rect">
            <a:avLst/>
          </a:prstGeom>
          <a:solidFill>
            <a:srgbClr val="1F3A5F"/>
          </a:solidFill>
          <a:ln/>
        </p:spPr>
      </p:sp>
      <p:sp>
        <p:nvSpPr>
          <p:cNvPr id="11" name="Text 8"/>
          <p:cNvSpPr/>
          <p:nvPr/>
        </p:nvSpPr>
        <p:spPr>
          <a:xfrm>
            <a:off x="640080" y="379476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12" name="Text 9"/>
          <p:cNvSpPr/>
          <p:nvPr/>
        </p:nvSpPr>
        <p:spPr>
          <a:xfrm>
            <a:off x="1325880" y="3776472"/>
            <a:ext cx="10149840" cy="50292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Prove the safety net works — by tripping it, once.</a:t>
            </a:r>
            <a:endParaRPr lang="en-US" sz="1900" dirty="0"/>
          </a:p>
        </p:txBody>
      </p:sp>
      <p:sp>
        <p:nvSpPr>
          <p:cNvPr id="13" name="Text 10"/>
          <p:cNvSpPr/>
          <p:nvPr/>
        </p:nvSpPr>
        <p:spPr>
          <a:xfrm>
            <a:off x="1325880" y="4297680"/>
            <a:ext cx="10149840" cy="640080"/>
          </a:xfrm>
          <a:prstGeom prst="rect">
            <a:avLst/>
          </a:prstGeom>
          <a:noFill/>
          <a:ln/>
        </p:spPr>
        <p:txBody>
          <a:bodyPr wrap="square" lIns="0" tIns="0" rIns="0" bIns="0" rtlCol="0" anchor="ctr"/>
          <a:lstStyle/>
          <a:p>
            <a:pPr indent="0" marL="0">
              <a:lnSpc>
                <a:spcPct val="104000"/>
              </a:lnSpc>
              <a:buNone/>
            </a:pPr>
            <a:r>
              <a:rPr lang="en-US" sz="1450" dirty="0">
                <a:solidFill>
                  <a:srgbClr val="3A4A5A"/>
                </a:solidFill>
                <a:latin typeface="Calibri" pitchFamily="34" charset="0"/>
                <a:ea typeface="Calibri" pitchFamily="34" charset="-122"/>
                <a:cs typeface="Calibri" pitchFamily="34" charset="-120"/>
              </a:rPr>
              <a:t>On day one, deliberately break something and watch the system refuse to deploy it. Then fix it and watch it ship.</a:t>
            </a:r>
            <a:endParaRPr lang="en-US" sz="1450" dirty="0"/>
          </a:p>
        </p:txBody>
      </p:sp>
      <p:sp>
        <p:nvSpPr>
          <p:cNvPr id="14" name="Shape 11"/>
          <p:cNvSpPr/>
          <p:nvPr/>
        </p:nvSpPr>
        <p:spPr>
          <a:xfrm>
            <a:off x="1325880" y="4965192"/>
            <a:ext cx="10149840" cy="868680"/>
          </a:xfrm>
          <a:prstGeom prst="rect">
            <a:avLst/>
          </a:prstGeom>
          <a:solidFill>
            <a:srgbClr val="F6EEEE"/>
          </a:solidFill>
          <a:ln w="12700">
            <a:solidFill>
              <a:srgbClr val="7A2E2E"/>
            </a:solidFill>
            <a:prstDash val="solid"/>
          </a:ln>
        </p:spPr>
      </p:sp>
      <p:sp>
        <p:nvSpPr>
          <p:cNvPr id="15" name="Text 12"/>
          <p:cNvSpPr/>
          <p:nvPr/>
        </p:nvSpPr>
        <p:spPr>
          <a:xfrm>
            <a:off x="1508760" y="5074920"/>
            <a:ext cx="9784080" cy="649224"/>
          </a:xfrm>
          <a:prstGeom prst="rect">
            <a:avLst/>
          </a:prstGeom>
          <a:noFill/>
          <a:ln/>
        </p:spPr>
        <p:txBody>
          <a:bodyPr wrap="square" rtlCol="0" anchor="ctr"/>
          <a:lstStyle/>
          <a:p>
            <a:pPr indent="0" marL="0">
              <a:lnSpc>
                <a:spcPct val="102000"/>
              </a:lnSpc>
              <a:buNone/>
            </a:pPr>
            <a:r>
              <a:rPr lang="en-US" sz="1300" b="1" dirty="0">
                <a:solidFill>
                  <a:srgbClr val="7A2E2E"/>
                </a:solidFill>
                <a:latin typeface="Calibri" pitchFamily="34" charset="0"/>
                <a:ea typeface="Calibri" pitchFamily="34" charset="-122"/>
                <a:cs typeface="Calibri" pitchFamily="34" charset="-120"/>
              </a:rPr>
              <a:t>PAID FOR IN BLOOD.  </a:t>
            </a:r>
            <a:pPr indent="0" marL="0">
              <a:lnSpc>
                <a:spcPct val="102000"/>
              </a:lnSpc>
              <a:buNone/>
            </a:pPr>
            <a:r>
              <a:rPr lang="en-US" sz="1300" i="1" dirty="0">
                <a:solidFill>
                  <a:srgbClr val="7A2E2E"/>
                </a:solidFill>
                <a:latin typeface="Calibri" pitchFamily="34" charset="0"/>
                <a:ea typeface="Calibri" pitchFamily="34" charset="-122"/>
                <a:cs typeface="Calibri" pitchFamily="34" charset="-120"/>
              </a:rPr>
              <a:t>We had “tests that guard deploys” on paper before we ever watched one actually block a bad build. Until you SEE it catch something, you have a story about a net, not a net.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457200"/>
            <a:ext cx="10972800" cy="82296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Principle 7</a:t>
            </a:r>
            <a:endParaRPr lang="en-US" sz="3200" dirty="0"/>
          </a:p>
        </p:txBody>
      </p:sp>
      <p:sp>
        <p:nvSpPr>
          <p:cNvPr id="4" name="Shape 1"/>
          <p:cNvSpPr/>
          <p:nvPr/>
        </p:nvSpPr>
        <p:spPr>
          <a:xfrm>
            <a:off x="640080" y="1463040"/>
            <a:ext cx="502920" cy="502920"/>
          </a:xfrm>
          <a:prstGeom prst="rect">
            <a:avLst/>
          </a:prstGeom>
          <a:solidFill>
            <a:srgbClr val="1F3A5F"/>
          </a:solidFill>
          <a:ln/>
        </p:spPr>
      </p:sp>
      <p:sp>
        <p:nvSpPr>
          <p:cNvPr id="5" name="Text 2"/>
          <p:cNvSpPr/>
          <p:nvPr/>
        </p:nvSpPr>
        <p:spPr>
          <a:xfrm>
            <a:off x="640080" y="1463040"/>
            <a:ext cx="502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7</a:t>
            </a:r>
            <a:endParaRPr lang="en-US" sz="2400" dirty="0"/>
          </a:p>
        </p:txBody>
      </p:sp>
      <p:sp>
        <p:nvSpPr>
          <p:cNvPr id="6" name="Text 3"/>
          <p:cNvSpPr/>
          <p:nvPr/>
        </p:nvSpPr>
        <p:spPr>
          <a:xfrm>
            <a:off x="1325880" y="1444752"/>
            <a:ext cx="10149840" cy="502920"/>
          </a:xfrm>
          <a:prstGeom prst="rect">
            <a:avLst/>
          </a:prstGeom>
          <a:noFill/>
          <a:ln/>
        </p:spPr>
        <p:txBody>
          <a:bodyPr wrap="square" lIns="0" tIns="0" rIns="0" bIns="0" rtlCol="0" anchor="ctr"/>
          <a:lstStyle/>
          <a:p>
            <a:pPr indent="0" marL="0">
              <a:buNone/>
            </a:pPr>
            <a:r>
              <a:rPr lang="en-US" sz="1900" b="1" dirty="0">
                <a:solidFill>
                  <a:srgbClr val="1F3A5F"/>
                </a:solidFill>
                <a:latin typeface="Calibri" pitchFamily="34" charset="0"/>
                <a:ea typeface="Calibri" pitchFamily="34" charset="-122"/>
                <a:cs typeface="Calibri" pitchFamily="34" charset="-120"/>
              </a:rPr>
              <a:t>Write the decision down before the work is done.</a:t>
            </a:r>
            <a:endParaRPr lang="en-US" sz="1900" dirty="0"/>
          </a:p>
        </p:txBody>
      </p:sp>
      <p:sp>
        <p:nvSpPr>
          <p:cNvPr id="7" name="Text 4"/>
          <p:cNvSpPr/>
          <p:nvPr/>
        </p:nvSpPr>
        <p:spPr>
          <a:xfrm>
            <a:off x="1325880" y="1965960"/>
            <a:ext cx="10149840" cy="640080"/>
          </a:xfrm>
          <a:prstGeom prst="rect">
            <a:avLst/>
          </a:prstGeom>
          <a:noFill/>
          <a:ln/>
        </p:spPr>
        <p:txBody>
          <a:bodyPr wrap="square" lIns="0" tIns="0" rIns="0" bIns="0" rtlCol="0" anchor="ctr"/>
          <a:lstStyle/>
          <a:p>
            <a:pPr indent="0" marL="0">
              <a:lnSpc>
                <a:spcPct val="104000"/>
              </a:lnSpc>
              <a:buNone/>
            </a:pPr>
            <a:r>
              <a:rPr lang="en-US" sz="1450" dirty="0">
                <a:solidFill>
                  <a:srgbClr val="3A4A5A"/>
                </a:solidFill>
                <a:latin typeface="Calibri" pitchFamily="34" charset="0"/>
                <a:ea typeface="Calibri" pitchFamily="34" charset="-122"/>
                <a:cs typeface="Calibri" pitchFamily="34" charset="-120"/>
              </a:rPr>
              <a:t>A design agreed in conversation and never recorded does not exist. Capture what you chose and why, in the repository, before the work counts as finished.</a:t>
            </a:r>
            <a:endParaRPr lang="en-US" sz="1450" dirty="0"/>
          </a:p>
        </p:txBody>
      </p:sp>
      <p:sp>
        <p:nvSpPr>
          <p:cNvPr id="8" name="Shape 5"/>
          <p:cNvSpPr/>
          <p:nvPr/>
        </p:nvSpPr>
        <p:spPr>
          <a:xfrm>
            <a:off x="1325880" y="2633472"/>
            <a:ext cx="10149840" cy="868680"/>
          </a:xfrm>
          <a:prstGeom prst="rect">
            <a:avLst/>
          </a:prstGeom>
          <a:solidFill>
            <a:srgbClr val="F6EEEE"/>
          </a:solidFill>
          <a:ln w="12700">
            <a:solidFill>
              <a:srgbClr val="7A2E2E"/>
            </a:solidFill>
            <a:prstDash val="solid"/>
          </a:ln>
        </p:spPr>
      </p:sp>
      <p:sp>
        <p:nvSpPr>
          <p:cNvPr id="9" name="Text 6"/>
          <p:cNvSpPr/>
          <p:nvPr/>
        </p:nvSpPr>
        <p:spPr>
          <a:xfrm>
            <a:off x="1508760" y="2743200"/>
            <a:ext cx="9784080" cy="649224"/>
          </a:xfrm>
          <a:prstGeom prst="rect">
            <a:avLst/>
          </a:prstGeom>
          <a:noFill/>
          <a:ln/>
        </p:spPr>
        <p:txBody>
          <a:bodyPr wrap="square" rtlCol="0" anchor="ctr"/>
          <a:lstStyle/>
          <a:p>
            <a:pPr indent="0" marL="0">
              <a:lnSpc>
                <a:spcPct val="102000"/>
              </a:lnSpc>
              <a:buNone/>
            </a:pPr>
            <a:r>
              <a:rPr lang="en-US" sz="1300" b="1" dirty="0">
                <a:solidFill>
                  <a:srgbClr val="7A2E2E"/>
                </a:solidFill>
                <a:latin typeface="Calibri" pitchFamily="34" charset="0"/>
                <a:ea typeface="Calibri" pitchFamily="34" charset="-122"/>
                <a:cs typeface="Calibri" pitchFamily="34" charset="-120"/>
              </a:rPr>
              <a:t>PAID FOR IN BLOOD.  </a:t>
            </a:r>
            <a:pPr indent="0" marL="0">
              <a:lnSpc>
                <a:spcPct val="102000"/>
              </a:lnSpc>
              <a:buNone/>
            </a:pPr>
            <a:r>
              <a:rPr lang="en-US" sz="1300" i="1" dirty="0">
                <a:solidFill>
                  <a:srgbClr val="7A2E2E"/>
                </a:solidFill>
                <a:latin typeface="Calibri" pitchFamily="34" charset="0"/>
                <a:ea typeface="Calibri" pitchFamily="34" charset="-122"/>
                <a:cs typeface="Calibri" pitchFamily="34" charset="-120"/>
              </a:rPr>
              <a:t>A decision made in a chat, never written down, came back a day later as a confident WRONG note — and sent us chasing a bug already fixed. The ones we DID write down, we walked straight back into, sharp.</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82296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one demo that matters: prove the gate</a:t>
            </a:r>
            <a:endParaRPr lang="en-US" sz="3200" dirty="0"/>
          </a:p>
        </p:txBody>
      </p:sp>
      <p:sp>
        <p:nvSpPr>
          <p:cNvPr id="3" name="Text 1"/>
          <p:cNvSpPr/>
          <p:nvPr/>
        </p:nvSpPr>
        <p:spPr>
          <a:xfrm>
            <a:off x="640080" y="1325880"/>
            <a:ext cx="10881360" cy="548640"/>
          </a:xfrm>
          <a:prstGeom prst="rect">
            <a:avLst/>
          </a:prstGeom>
          <a:noFill/>
          <a:ln/>
        </p:spPr>
        <p:txBody>
          <a:bodyPr wrap="square"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Principle 6, in four moves. This is the moment the whole discipline becomes real — do it once, on day one.</a:t>
            </a:r>
            <a:endParaRPr lang="en-US" sz="1600" dirty="0"/>
          </a:p>
        </p:txBody>
      </p:sp>
      <p:sp>
        <p:nvSpPr>
          <p:cNvPr id="4" name="Shape 2"/>
          <p:cNvSpPr/>
          <p:nvPr/>
        </p:nvSpPr>
        <p:spPr>
          <a:xfrm>
            <a:off x="640080" y="2148840"/>
            <a:ext cx="2606040" cy="2651760"/>
          </a:xfrm>
          <a:prstGeom prst="rect">
            <a:avLst/>
          </a:prstGeom>
          <a:solidFill>
            <a:srgbClr val="F4F1EA"/>
          </a:solidFill>
          <a:ln/>
        </p:spPr>
      </p:sp>
      <p:sp>
        <p:nvSpPr>
          <p:cNvPr id="5" name="Shape 3"/>
          <p:cNvSpPr/>
          <p:nvPr/>
        </p:nvSpPr>
        <p:spPr>
          <a:xfrm>
            <a:off x="822960" y="2331720"/>
            <a:ext cx="640080" cy="640080"/>
          </a:xfrm>
          <a:prstGeom prst="ellipse">
            <a:avLst/>
          </a:prstGeom>
          <a:solidFill>
            <a:srgbClr val="1F3A5F"/>
          </a:solidFill>
          <a:ln/>
        </p:spPr>
      </p:sp>
      <p:sp>
        <p:nvSpPr>
          <p:cNvPr id="6" name="Text 4"/>
          <p:cNvSpPr/>
          <p:nvPr/>
        </p:nvSpPr>
        <p:spPr>
          <a:xfrm>
            <a:off x="82296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822960" y="3108960"/>
            <a:ext cx="2240280" cy="54864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Break it on purpose</a:t>
            </a:r>
            <a:endParaRPr lang="en-US" sz="1600" dirty="0"/>
          </a:p>
        </p:txBody>
      </p:sp>
      <p:sp>
        <p:nvSpPr>
          <p:cNvPr id="8" name="Text 6"/>
          <p:cNvSpPr/>
          <p:nvPr/>
        </p:nvSpPr>
        <p:spPr>
          <a:xfrm>
            <a:off x="822960" y="3657600"/>
            <a:ext cx="2240280" cy="1005840"/>
          </a:xfrm>
          <a:prstGeom prst="rect">
            <a:avLst/>
          </a:prstGeom>
          <a:noFill/>
          <a:ln/>
        </p:spPr>
        <p:txBody>
          <a:bodyPr wrap="square" lIns="0" tIns="0" rIns="0" bIns="0" rtlCol="0" anchor="ctr"/>
          <a:lstStyle/>
          <a:p>
            <a:pPr indent="0" marL="0">
              <a:lnSpc>
                <a:spcPct val="104000"/>
              </a:lnSpc>
              <a:buNone/>
            </a:pPr>
            <a:r>
              <a:rPr lang="en-US" sz="1250" dirty="0">
                <a:solidFill>
                  <a:srgbClr val="3A4A5A"/>
                </a:solidFill>
                <a:latin typeface="Calibri" pitchFamily="34" charset="0"/>
                <a:ea typeface="Calibri" pitchFamily="34" charset="-122"/>
                <a:cs typeface="Calibri" pitchFamily="34" charset="-120"/>
              </a:rPr>
              <a:t>Write a test that FAILS. Push it on a branch.</a:t>
            </a:r>
            <a:endParaRPr lang="en-US" sz="1250" dirty="0"/>
          </a:p>
        </p:txBody>
      </p:sp>
      <p:sp>
        <p:nvSpPr>
          <p:cNvPr id="9" name="Shape 7"/>
          <p:cNvSpPr/>
          <p:nvPr/>
        </p:nvSpPr>
        <p:spPr>
          <a:xfrm>
            <a:off x="3429000" y="2148840"/>
            <a:ext cx="2606040" cy="2651760"/>
          </a:xfrm>
          <a:prstGeom prst="rect">
            <a:avLst/>
          </a:prstGeom>
          <a:solidFill>
            <a:srgbClr val="F4F1EA"/>
          </a:solidFill>
          <a:ln/>
        </p:spPr>
      </p:sp>
      <p:sp>
        <p:nvSpPr>
          <p:cNvPr id="10" name="Shape 8"/>
          <p:cNvSpPr/>
          <p:nvPr/>
        </p:nvSpPr>
        <p:spPr>
          <a:xfrm>
            <a:off x="3611880" y="2331720"/>
            <a:ext cx="640080" cy="640080"/>
          </a:xfrm>
          <a:prstGeom prst="ellipse">
            <a:avLst/>
          </a:prstGeom>
          <a:solidFill>
            <a:srgbClr val="1F3A5F"/>
          </a:solidFill>
          <a:ln/>
        </p:spPr>
      </p:sp>
      <p:sp>
        <p:nvSpPr>
          <p:cNvPr id="11" name="Text 9"/>
          <p:cNvSpPr/>
          <p:nvPr/>
        </p:nvSpPr>
        <p:spPr>
          <a:xfrm>
            <a:off x="361188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3611880" y="3108960"/>
            <a:ext cx="2240280" cy="54864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Watch it get blocked</a:t>
            </a:r>
            <a:endParaRPr lang="en-US" sz="1600" dirty="0"/>
          </a:p>
        </p:txBody>
      </p:sp>
      <p:sp>
        <p:nvSpPr>
          <p:cNvPr id="13" name="Text 11"/>
          <p:cNvSpPr/>
          <p:nvPr/>
        </p:nvSpPr>
        <p:spPr>
          <a:xfrm>
            <a:off x="3611880" y="3657600"/>
            <a:ext cx="2240280" cy="1005840"/>
          </a:xfrm>
          <a:prstGeom prst="rect">
            <a:avLst/>
          </a:prstGeom>
          <a:noFill/>
          <a:ln/>
        </p:spPr>
        <p:txBody>
          <a:bodyPr wrap="square" lIns="0" tIns="0" rIns="0" bIns="0" rtlCol="0" anchor="ctr"/>
          <a:lstStyle/>
          <a:p>
            <a:pPr indent="0" marL="0">
              <a:lnSpc>
                <a:spcPct val="104000"/>
              </a:lnSpc>
              <a:buNone/>
            </a:pPr>
            <a:r>
              <a:rPr lang="en-US" sz="1250" dirty="0">
                <a:solidFill>
                  <a:srgbClr val="3A4A5A"/>
                </a:solidFill>
                <a:latin typeface="Calibri" pitchFamily="34" charset="0"/>
                <a:ea typeface="Calibri" pitchFamily="34" charset="-122"/>
                <a:cs typeface="Calibri" pitchFamily="34" charset="-120"/>
              </a:rPr>
              <a:t>The system REFUSES to deploy. (If it ships anyway — your gate is fake.)</a:t>
            </a:r>
            <a:endParaRPr lang="en-US" sz="1250" dirty="0"/>
          </a:p>
        </p:txBody>
      </p:sp>
      <p:sp>
        <p:nvSpPr>
          <p:cNvPr id="14" name="Shape 12"/>
          <p:cNvSpPr/>
          <p:nvPr/>
        </p:nvSpPr>
        <p:spPr>
          <a:xfrm>
            <a:off x="6217920" y="2148840"/>
            <a:ext cx="2606040" cy="2651760"/>
          </a:xfrm>
          <a:prstGeom prst="rect">
            <a:avLst/>
          </a:prstGeom>
          <a:solidFill>
            <a:srgbClr val="F4F1EA"/>
          </a:solidFill>
          <a:ln/>
        </p:spPr>
      </p:sp>
      <p:sp>
        <p:nvSpPr>
          <p:cNvPr id="15" name="Shape 13"/>
          <p:cNvSpPr/>
          <p:nvPr/>
        </p:nvSpPr>
        <p:spPr>
          <a:xfrm>
            <a:off x="6400800" y="2331720"/>
            <a:ext cx="640080" cy="640080"/>
          </a:xfrm>
          <a:prstGeom prst="ellipse">
            <a:avLst/>
          </a:prstGeom>
          <a:solidFill>
            <a:srgbClr val="1F3A5F"/>
          </a:solidFill>
          <a:ln/>
        </p:spPr>
      </p:sp>
      <p:sp>
        <p:nvSpPr>
          <p:cNvPr id="16" name="Text 14"/>
          <p:cNvSpPr/>
          <p:nvPr/>
        </p:nvSpPr>
        <p:spPr>
          <a:xfrm>
            <a:off x="640080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6400800" y="3108960"/>
            <a:ext cx="2240280" cy="54864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Fix it</a:t>
            </a:r>
            <a:endParaRPr lang="en-US" sz="1600" dirty="0"/>
          </a:p>
        </p:txBody>
      </p:sp>
      <p:sp>
        <p:nvSpPr>
          <p:cNvPr id="18" name="Text 16"/>
          <p:cNvSpPr/>
          <p:nvPr/>
        </p:nvSpPr>
        <p:spPr>
          <a:xfrm>
            <a:off x="6400800" y="3657600"/>
            <a:ext cx="2240280" cy="1005840"/>
          </a:xfrm>
          <a:prstGeom prst="rect">
            <a:avLst/>
          </a:prstGeom>
          <a:noFill/>
          <a:ln/>
        </p:spPr>
        <p:txBody>
          <a:bodyPr wrap="square" lIns="0" tIns="0" rIns="0" bIns="0" rtlCol="0" anchor="ctr"/>
          <a:lstStyle/>
          <a:p>
            <a:pPr indent="0" marL="0">
              <a:lnSpc>
                <a:spcPct val="104000"/>
              </a:lnSpc>
              <a:buNone/>
            </a:pPr>
            <a:r>
              <a:rPr lang="en-US" sz="1250" dirty="0">
                <a:solidFill>
                  <a:srgbClr val="3A4A5A"/>
                </a:solidFill>
                <a:latin typeface="Calibri" pitchFamily="34" charset="0"/>
                <a:ea typeface="Calibri" pitchFamily="34" charset="-122"/>
                <a:cs typeface="Calibri" pitchFamily="34" charset="-120"/>
              </a:rPr>
              <a:t>Correct the test so it passes. Merge it.</a:t>
            </a:r>
            <a:endParaRPr lang="en-US" sz="1250" dirty="0"/>
          </a:p>
        </p:txBody>
      </p:sp>
      <p:sp>
        <p:nvSpPr>
          <p:cNvPr id="19" name="Shape 17"/>
          <p:cNvSpPr/>
          <p:nvPr/>
        </p:nvSpPr>
        <p:spPr>
          <a:xfrm>
            <a:off x="9006840" y="2148840"/>
            <a:ext cx="2606040" cy="2651760"/>
          </a:xfrm>
          <a:prstGeom prst="rect">
            <a:avLst/>
          </a:prstGeom>
          <a:solidFill>
            <a:srgbClr val="F4F1EA"/>
          </a:solidFill>
          <a:ln/>
        </p:spPr>
      </p:sp>
      <p:sp>
        <p:nvSpPr>
          <p:cNvPr id="20" name="Shape 18"/>
          <p:cNvSpPr/>
          <p:nvPr/>
        </p:nvSpPr>
        <p:spPr>
          <a:xfrm>
            <a:off x="9189720" y="2331720"/>
            <a:ext cx="640080" cy="640080"/>
          </a:xfrm>
          <a:prstGeom prst="ellipse">
            <a:avLst/>
          </a:prstGeom>
          <a:solidFill>
            <a:srgbClr val="1F3A5F"/>
          </a:solidFill>
          <a:ln/>
        </p:spPr>
      </p:sp>
      <p:sp>
        <p:nvSpPr>
          <p:cNvPr id="21" name="Text 19"/>
          <p:cNvSpPr/>
          <p:nvPr/>
        </p:nvSpPr>
        <p:spPr>
          <a:xfrm>
            <a:off x="9189720" y="233172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9189720" y="3108960"/>
            <a:ext cx="2240280" cy="54864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Watch it ship</a:t>
            </a:r>
            <a:endParaRPr lang="en-US" sz="1600" dirty="0"/>
          </a:p>
        </p:txBody>
      </p:sp>
      <p:sp>
        <p:nvSpPr>
          <p:cNvPr id="23" name="Text 21"/>
          <p:cNvSpPr/>
          <p:nvPr/>
        </p:nvSpPr>
        <p:spPr>
          <a:xfrm>
            <a:off x="9189720" y="3657600"/>
            <a:ext cx="2240280" cy="1005840"/>
          </a:xfrm>
          <a:prstGeom prst="rect">
            <a:avLst/>
          </a:prstGeom>
          <a:noFill/>
          <a:ln/>
        </p:spPr>
        <p:txBody>
          <a:bodyPr wrap="square" lIns="0" tIns="0" rIns="0" bIns="0" rtlCol="0" anchor="ctr"/>
          <a:lstStyle/>
          <a:p>
            <a:pPr indent="0" marL="0">
              <a:lnSpc>
                <a:spcPct val="104000"/>
              </a:lnSpc>
              <a:buNone/>
            </a:pPr>
            <a:r>
              <a:rPr lang="en-US" sz="1250" dirty="0">
                <a:solidFill>
                  <a:srgbClr val="3A4A5A"/>
                </a:solidFill>
                <a:latin typeface="Calibri" pitchFamily="34" charset="0"/>
                <a:ea typeface="Calibri" pitchFamily="34" charset="-122"/>
                <a:cs typeface="Calibri" pitchFamily="34" charset="-120"/>
              </a:rPr>
              <a:t>This time it deploys — through the front door.</a:t>
            </a:r>
            <a:endParaRPr lang="en-US" sz="1250" dirty="0"/>
          </a:p>
        </p:txBody>
      </p:sp>
      <p:sp>
        <p:nvSpPr>
          <p:cNvPr id="24" name="Text 22"/>
          <p:cNvSpPr/>
          <p:nvPr/>
        </p:nvSpPr>
        <p:spPr>
          <a:xfrm>
            <a:off x="640080" y="5120640"/>
            <a:ext cx="10881360" cy="640080"/>
          </a:xfrm>
          <a:prstGeom prst="rect">
            <a:avLst/>
          </a:prstGeom>
          <a:noFill/>
          <a:ln/>
        </p:spPr>
        <p:txBody>
          <a:bodyPr wrap="square" rtlCol="0" anchor="ctr"/>
          <a:lstStyle/>
          <a:p>
            <a:pPr algn="ctr" indent="0" marL="0">
              <a:buNone/>
            </a:pPr>
            <a:r>
              <a:rPr lang="en-US" sz="1900" b="1" i="1" dirty="0">
                <a:solidFill>
                  <a:srgbClr val="7A2E2E"/>
                </a:solidFill>
                <a:latin typeface="Cambria" pitchFamily="34" charset="0"/>
                <a:ea typeface="Cambria" pitchFamily="34" charset="-122"/>
                <a:cs typeface="Cambria" pitchFamily="34" charset="-120"/>
              </a:rPr>
              <a:t>Now you KNOW. A safety system you've never seen fire is a hope, not a guarantee.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731520" y="640080"/>
            <a:ext cx="1069848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move that makes it stick</a:t>
            </a:r>
            <a:endParaRPr lang="en-US" sz="3000" dirty="0"/>
          </a:p>
        </p:txBody>
      </p:sp>
      <p:sp>
        <p:nvSpPr>
          <p:cNvPr id="3" name="Text 1"/>
          <p:cNvSpPr/>
          <p:nvPr/>
        </p:nvSpPr>
        <p:spPr>
          <a:xfrm>
            <a:off x="731520" y="1554480"/>
            <a:ext cx="10698480" cy="1005840"/>
          </a:xfrm>
          <a:prstGeom prst="rect">
            <a:avLst/>
          </a:prstGeom>
          <a:noFill/>
          <a:ln/>
        </p:spPr>
        <p:txBody>
          <a:bodyPr wrap="square" rtlCol="0" anchor="ctr"/>
          <a:lstStyle/>
          <a:p>
            <a:pPr indent="0" marL="0">
              <a:lnSpc>
                <a:spcPct val="110000"/>
              </a:lnSpc>
              <a:buNone/>
            </a:pPr>
            <a:r>
              <a:rPr lang="en-US" sz="1900" dirty="0">
                <a:solidFill>
                  <a:srgbClr val="E8EEF6"/>
                </a:solidFill>
                <a:latin typeface="Calibri" pitchFamily="34" charset="0"/>
                <a:ea typeface="Calibri" pitchFamily="34" charset="-122"/>
                <a:cs typeface="Calibri" pitchFamily="34" charset="-120"/>
              </a:rPr>
              <a:t>The temptation to skip the Keel is strongest at the exact instant you start planning with an AI — planning is the fun part. Willpower loses that fight.</a:t>
            </a:r>
            <a:endParaRPr lang="en-US" sz="1900" dirty="0"/>
          </a:p>
        </p:txBody>
      </p:sp>
      <p:sp>
        <p:nvSpPr>
          <p:cNvPr id="4" name="Text 2"/>
          <p:cNvSpPr/>
          <p:nvPr/>
        </p:nvSpPr>
        <p:spPr>
          <a:xfrm>
            <a:off x="731520" y="2697480"/>
            <a:ext cx="10698480" cy="548640"/>
          </a:xfrm>
          <a:prstGeom prst="rect">
            <a:avLst/>
          </a:prstGeom>
          <a:noFill/>
          <a:ln/>
        </p:spPr>
        <p:txBody>
          <a:bodyPr wrap="square" rtlCol="0" anchor="ctr"/>
          <a:lstStyle/>
          <a:p>
            <a:pPr indent="0" marL="0">
              <a:buNone/>
            </a:pPr>
            <a:r>
              <a:rPr lang="en-US" sz="2400" b="1" i="1" dirty="0">
                <a:solidFill>
                  <a:srgbClr val="E8C77D"/>
                </a:solidFill>
                <a:latin typeface="Cambria" pitchFamily="34" charset="0"/>
                <a:ea typeface="Cambria" pitchFamily="34" charset="-122"/>
                <a:cs typeface="Cambria" pitchFamily="34" charset="-120"/>
              </a:rPr>
              <a:t>Move the enforcement earlier than the temptation.</a:t>
            </a:r>
            <a:endParaRPr lang="en-US" sz="2400" dirty="0"/>
          </a:p>
        </p:txBody>
      </p:sp>
      <p:sp>
        <p:nvSpPr>
          <p:cNvPr id="5" name="Shape 3"/>
          <p:cNvSpPr/>
          <p:nvPr/>
        </p:nvSpPr>
        <p:spPr>
          <a:xfrm>
            <a:off x="731520" y="3566160"/>
            <a:ext cx="5257800" cy="2103120"/>
          </a:xfrm>
          <a:prstGeom prst="rect">
            <a:avLst/>
          </a:prstGeom>
          <a:solidFill>
            <a:srgbClr val="152A45"/>
          </a:solidFill>
          <a:ln/>
        </p:spPr>
      </p:sp>
      <p:sp>
        <p:nvSpPr>
          <p:cNvPr id="6" name="Text 4"/>
          <p:cNvSpPr/>
          <p:nvPr/>
        </p:nvSpPr>
        <p:spPr>
          <a:xfrm>
            <a:off x="960120" y="3749040"/>
            <a:ext cx="48006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Make starting right take 30 seconds</a:t>
            </a:r>
            <a:endParaRPr lang="en-US" sz="1700" dirty="0"/>
          </a:p>
        </p:txBody>
      </p:sp>
      <p:sp>
        <p:nvSpPr>
          <p:cNvPr id="7" name="Text 5"/>
          <p:cNvSpPr/>
          <p:nvPr/>
        </p:nvSpPr>
        <p:spPr>
          <a:xfrm>
            <a:off x="960120" y="4434840"/>
            <a:ext cx="4800600" cy="1097280"/>
          </a:xfrm>
          <a:prstGeom prst="rect">
            <a:avLst/>
          </a:prstGeom>
          <a:noFill/>
          <a:ln/>
        </p:spPr>
        <p:txBody>
          <a:bodyPr wrap="square" lIns="0" tIns="0" rIns="0" bIns="0" rtlCol="0" anchor="ctr"/>
          <a:lstStyle/>
          <a:p>
            <a:pPr indent="0" marL="0">
              <a:lnSpc>
                <a:spcPct val="106000"/>
              </a:lnSpc>
              <a:buNone/>
            </a:pPr>
            <a:r>
              <a:rPr lang="en-US" sz="1450" dirty="0">
                <a:solidFill>
                  <a:srgbClr val="CADCFC"/>
                </a:solidFill>
                <a:latin typeface="Calibri" pitchFamily="34" charset="0"/>
                <a:ea typeface="Calibri" pitchFamily="34" charset="-122"/>
                <a:cs typeface="Calibri" pitchFamily="34" charset="-120"/>
              </a:rPr>
              <a:t>A template or script that lays the whole Keel in one step — so the right way is easier than the wrong way.</a:t>
            </a:r>
            <a:endParaRPr lang="en-US" sz="1450" dirty="0"/>
          </a:p>
        </p:txBody>
      </p:sp>
      <p:sp>
        <p:nvSpPr>
          <p:cNvPr id="8" name="Shape 6"/>
          <p:cNvSpPr/>
          <p:nvPr/>
        </p:nvSpPr>
        <p:spPr>
          <a:xfrm>
            <a:off x="6172200" y="3566160"/>
            <a:ext cx="5257800" cy="2103120"/>
          </a:xfrm>
          <a:prstGeom prst="rect">
            <a:avLst/>
          </a:prstGeom>
          <a:solidFill>
            <a:srgbClr val="152A45"/>
          </a:solidFill>
          <a:ln/>
        </p:spPr>
      </p:sp>
      <p:sp>
        <p:nvSpPr>
          <p:cNvPr id="9" name="Text 7"/>
          <p:cNvSpPr/>
          <p:nvPr/>
        </p:nvSpPr>
        <p:spPr>
          <a:xfrm>
            <a:off x="6400800" y="3749040"/>
            <a:ext cx="480060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Give the AI a standing order</a:t>
            </a:r>
            <a:endParaRPr lang="en-US" sz="1700" dirty="0"/>
          </a:p>
        </p:txBody>
      </p:sp>
      <p:sp>
        <p:nvSpPr>
          <p:cNvPr id="10" name="Text 8"/>
          <p:cNvSpPr/>
          <p:nvPr/>
        </p:nvSpPr>
        <p:spPr>
          <a:xfrm>
            <a:off x="6400800" y="4434840"/>
            <a:ext cx="4800600" cy="1097280"/>
          </a:xfrm>
          <a:prstGeom prst="rect">
            <a:avLst/>
          </a:prstGeom>
          <a:noFill/>
          <a:ln/>
        </p:spPr>
        <p:txBody>
          <a:bodyPr wrap="square" lIns="0" tIns="0" rIns="0" bIns="0" rtlCol="0" anchor="ctr"/>
          <a:lstStyle/>
          <a:p>
            <a:pPr indent="0" marL="0">
              <a:lnSpc>
                <a:spcPct val="106000"/>
              </a:lnSpc>
              <a:buNone/>
            </a:pPr>
            <a:r>
              <a:rPr lang="en-US" sz="1450" i="1" dirty="0">
                <a:solidFill>
                  <a:srgbClr val="CADCFC"/>
                </a:solidFill>
                <a:latin typeface="Calibri" pitchFamily="34" charset="0"/>
                <a:ea typeface="Calibri" pitchFamily="34" charset="-122"/>
                <a:cs typeface="Calibri" pitchFamily="34" charset="-120"/>
              </a:rPr>
              <a:t>“Before we design anything, confirm the foundation exists — and if it doesn't, stop and build it first.”</a:t>
            </a:r>
            <a:endParaRPr lang="en-US" sz="1450" dirty="0"/>
          </a:p>
        </p:txBody>
      </p:sp>
      <p:sp>
        <p:nvSpPr>
          <p:cNvPr id="11" name="Text 9"/>
          <p:cNvSpPr/>
          <p:nvPr/>
        </p:nvSpPr>
        <p:spPr>
          <a:xfrm>
            <a:off x="731520" y="5897880"/>
            <a:ext cx="10698480" cy="548640"/>
          </a:xfrm>
          <a:prstGeom prst="rect">
            <a:avLst/>
          </a:prstGeom>
          <a:noFill/>
          <a:ln/>
        </p:spPr>
        <p:txBody>
          <a:bodyPr wrap="square" rtlCol="0" anchor="ctr"/>
          <a:lstStyle/>
          <a:p>
            <a:pPr algn="ctr" indent="0" marL="0">
              <a:buNone/>
            </a:pPr>
            <a:r>
              <a:rPr lang="en-US" sz="1600" i="1" dirty="0">
                <a:solidFill>
                  <a:srgbClr val="E8C77D"/>
                </a:solidFill>
                <a:latin typeface="Calibri" pitchFamily="34" charset="0"/>
                <a:ea typeface="Calibri" pitchFamily="34" charset="-122"/>
                <a:cs typeface="Calibri" pitchFamily="34" charset="-120"/>
              </a:rPr>
              <a:t>You turn the thing that tempts you to skip the Keel into the thing that guards it.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82296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Working over days and weeks: the daily rituals</a:t>
            </a:r>
            <a:endParaRPr lang="en-US" sz="3200" dirty="0"/>
          </a:p>
        </p:txBody>
      </p:sp>
      <p:sp>
        <p:nvSpPr>
          <p:cNvPr id="3" name="Text 1"/>
          <p:cNvSpPr/>
          <p:nvPr/>
        </p:nvSpPr>
        <p:spPr>
          <a:xfrm>
            <a:off x="640080" y="1280160"/>
            <a:ext cx="10881360" cy="731520"/>
          </a:xfrm>
          <a:prstGeom prst="rect">
            <a:avLst/>
          </a:prstGeom>
          <a:noFill/>
          <a:ln/>
        </p:spPr>
        <p:txBody>
          <a:bodyPr wrap="square" rtlCol="0" anchor="ctr"/>
          <a:lstStyle/>
          <a:p>
            <a:pPr indent="0" marL="0">
              <a:lnSpc>
                <a:spcPct val="105000"/>
              </a:lnSpc>
              <a:buNone/>
            </a:pPr>
            <a:r>
              <a:rPr lang="en-US" sz="1600" i="1" dirty="0">
                <a:solidFill>
                  <a:srgbClr val="6B7280"/>
                </a:solidFill>
                <a:latin typeface="Calibri" pitchFamily="34" charset="0"/>
                <a:ea typeface="Calibri" pitchFamily="34" charset="-122"/>
                <a:cs typeface="Calibri" pitchFamily="34" charset="-120"/>
              </a:rPr>
              <a:t>The hardest part of a long project isn't any single day — it's picking the work back up without losing the thread. Never keep one chat open for days.</a:t>
            </a:r>
            <a:endParaRPr lang="en-US" sz="1600" dirty="0"/>
          </a:p>
        </p:txBody>
      </p:sp>
      <p:sp>
        <p:nvSpPr>
          <p:cNvPr id="4" name="Text 2"/>
          <p:cNvSpPr/>
          <p:nvPr/>
        </p:nvSpPr>
        <p:spPr>
          <a:xfrm>
            <a:off x="640080" y="2057400"/>
            <a:ext cx="10881360" cy="822960"/>
          </a:xfrm>
          <a:prstGeom prst="rect">
            <a:avLst/>
          </a:prstGeom>
          <a:noFill/>
          <a:ln/>
        </p:spPr>
        <p:txBody>
          <a:bodyPr wrap="square" rtlCol="0" anchor="ctr"/>
          <a:lstStyle/>
          <a:p>
            <a:pPr indent="0" marL="0">
              <a:lnSpc>
                <a:spcPct val="106000"/>
              </a:lnSpc>
              <a:buNone/>
            </a:pPr>
            <a:r>
              <a:rPr lang="en-US" sz="1600" b="1" dirty="0">
                <a:solidFill>
                  <a:srgbClr val="1F3A5F"/>
                </a:solidFill>
                <a:latin typeface="Calibri" pitchFamily="34" charset="0"/>
                <a:ea typeface="Calibri" pitchFamily="34" charset="-122"/>
                <a:cs typeface="Calibri" pitchFamily="34" charset="-120"/>
              </a:rPr>
              <a:t>Your continuity does not live in the conversation. It lives in the repository.  </a:t>
            </a:r>
            <a:pPr indent="0" marL="0">
              <a:lnSpc>
                <a:spcPct val="106000"/>
              </a:lnSpc>
              <a:buNone/>
            </a:pPr>
            <a:r>
              <a:rPr lang="en-US" sz="1600" dirty="0">
                <a:solidFill>
                  <a:srgbClr val="3A4A5A"/>
                </a:solidFill>
                <a:latin typeface="Calibri" pitchFamily="34" charset="0"/>
                <a:ea typeface="Calibri" pitchFamily="34" charset="-122"/>
                <a:cs typeface="Calibri" pitchFamily="34" charset="-120"/>
              </a:rPr>
              <a:t>The chat is a disposable scratchpad; the repo is permanent. So close every chat with zero fear.</a:t>
            </a:r>
            <a:endParaRPr lang="en-US" sz="1600" dirty="0"/>
          </a:p>
        </p:txBody>
      </p:sp>
      <p:sp>
        <p:nvSpPr>
          <p:cNvPr id="5" name="Shape 3"/>
          <p:cNvSpPr/>
          <p:nvPr/>
        </p:nvSpPr>
        <p:spPr>
          <a:xfrm>
            <a:off x="640080" y="3108960"/>
            <a:ext cx="5257800" cy="2651760"/>
          </a:xfrm>
          <a:prstGeom prst="rect">
            <a:avLst/>
          </a:prstGeom>
          <a:solidFill>
            <a:srgbClr val="F4F1EA"/>
          </a:solidFill>
          <a:ln/>
        </p:spPr>
      </p:sp>
      <p:sp>
        <p:nvSpPr>
          <p:cNvPr id="6" name="Text 4"/>
          <p:cNvSpPr/>
          <p:nvPr/>
        </p:nvSpPr>
        <p:spPr>
          <a:xfrm>
            <a:off x="868680" y="3291840"/>
            <a:ext cx="4800600" cy="365760"/>
          </a:xfrm>
          <a:prstGeom prst="rect">
            <a:avLst/>
          </a:prstGeom>
          <a:noFill/>
          <a:ln/>
        </p:spPr>
        <p:txBody>
          <a:bodyPr wrap="square" lIns="0" tIns="0" rIns="0" bIns="0" rtlCol="0" anchor="ctr"/>
          <a:lstStyle/>
          <a:p>
            <a:pPr indent="0" marL="0">
              <a:buNone/>
            </a:pPr>
            <a:r>
              <a:rPr lang="en-US" sz="1400" b="1" spc="100" kern="0" dirty="0">
                <a:solidFill>
                  <a:srgbClr val="8A6D3B"/>
                </a:solidFill>
                <a:latin typeface="Calibri" pitchFamily="34" charset="0"/>
                <a:ea typeface="Calibri" pitchFamily="34" charset="-122"/>
                <a:cs typeface="Calibri" pitchFamily="34" charset="-120"/>
              </a:rPr>
              <a:t>POST-FLIGHT — end of session</a:t>
            </a:r>
            <a:endParaRPr lang="en-US" sz="1400" dirty="0"/>
          </a:p>
        </p:txBody>
      </p:sp>
      <p:sp>
        <p:nvSpPr>
          <p:cNvPr id="7" name="Text 5"/>
          <p:cNvSpPr/>
          <p:nvPr/>
        </p:nvSpPr>
        <p:spPr>
          <a:xfrm>
            <a:off x="868680" y="3703320"/>
            <a:ext cx="4800600" cy="1920240"/>
          </a:xfrm>
          <a:prstGeom prst="rect">
            <a:avLst/>
          </a:prstGeom>
          <a:noFill/>
          <a:ln/>
        </p:spPr>
        <p:txBody>
          <a:bodyPr wrap="square" lIns="0" tIns="0" rIns="0" bIns="0" rtlCol="0" anchor="t"/>
          <a:lstStyle/>
          <a:p>
            <a:pPr indent="0" marL="0">
              <a:lnSpc>
                <a:spcPct val="106000"/>
              </a:lnSpc>
              <a:buNone/>
            </a:pPr>
            <a:r>
              <a:rPr lang="en-US" sz="1450" dirty="0">
                <a:solidFill>
                  <a:srgbClr val="3A4A5A"/>
                </a:solidFill>
                <a:latin typeface="Calibri" pitchFamily="34" charset="0"/>
                <a:ea typeface="Calibri" pitchFamily="34" charset="-122"/>
                <a:cs typeface="Calibri" pitchFamily="34" charset="-120"/>
              </a:rPr>
              <a:t>Have your AI write a session close-out: what got done, what's open, what's next.</a:t>
            </a:r>
            <a:endParaRPr lang="en-US" sz="1450" dirty="0"/>
          </a:p>
          <a:p>
            <a:pPr indent="0" marL="0">
              <a:lnSpc>
                <a:spcPct val="106000"/>
              </a:lnSpc>
              <a:buNone/>
            </a:pPr>
            <a:endParaRPr lang="en-US" sz="1450" dirty="0"/>
          </a:p>
          <a:p>
            <a:pPr indent="0" marL="0">
              <a:lnSpc>
                <a:spcPct val="106000"/>
              </a:lnSpc>
              <a:buNone/>
            </a:pPr>
            <a:r>
              <a:rPr lang="en-US" sz="1450" b="1" dirty="0">
                <a:solidFill>
                  <a:srgbClr val="1F3A5F"/>
                </a:solidFill>
                <a:latin typeface="Calibri" pitchFamily="34" charset="0"/>
                <a:ea typeface="Calibri" pitchFamily="34" charset="-122"/>
                <a:cs typeface="Calibri" pitchFamily="34" charset="-120"/>
              </a:rPr>
              <a:t>Commit it to docs/. That's the baton you hand tomorrow.</a:t>
            </a:r>
            <a:endParaRPr lang="en-US" sz="1450" dirty="0"/>
          </a:p>
        </p:txBody>
      </p:sp>
      <p:sp>
        <p:nvSpPr>
          <p:cNvPr id="8" name="Shape 6"/>
          <p:cNvSpPr/>
          <p:nvPr/>
        </p:nvSpPr>
        <p:spPr>
          <a:xfrm>
            <a:off x="6263640" y="3108960"/>
            <a:ext cx="5257800" cy="2651760"/>
          </a:xfrm>
          <a:prstGeom prst="rect">
            <a:avLst/>
          </a:prstGeom>
          <a:solidFill>
            <a:srgbClr val="1F3A5F"/>
          </a:solidFill>
          <a:ln/>
        </p:spPr>
      </p:sp>
      <p:sp>
        <p:nvSpPr>
          <p:cNvPr id="9" name="Text 7"/>
          <p:cNvSpPr/>
          <p:nvPr/>
        </p:nvSpPr>
        <p:spPr>
          <a:xfrm>
            <a:off x="6492240" y="3291840"/>
            <a:ext cx="4800600" cy="365760"/>
          </a:xfrm>
          <a:prstGeom prst="rect">
            <a:avLst/>
          </a:prstGeom>
          <a:noFill/>
          <a:ln/>
        </p:spPr>
        <p:txBody>
          <a:bodyPr wrap="square" lIns="0" tIns="0" rIns="0" bIns="0" rtlCol="0" anchor="ctr"/>
          <a:lstStyle/>
          <a:p>
            <a:pPr indent="0" marL="0">
              <a:buNone/>
            </a:pPr>
            <a:r>
              <a:rPr lang="en-US" sz="1400" b="1" spc="100" kern="0" dirty="0">
                <a:solidFill>
                  <a:srgbClr val="E8C77D"/>
                </a:solidFill>
                <a:latin typeface="Calibri" pitchFamily="34" charset="0"/>
                <a:ea typeface="Calibri" pitchFamily="34" charset="-122"/>
                <a:cs typeface="Calibri" pitchFamily="34" charset="-120"/>
              </a:rPr>
              <a:t>PRE-FLIGHT — start of session</a:t>
            </a:r>
            <a:endParaRPr lang="en-US" sz="1400" dirty="0"/>
          </a:p>
        </p:txBody>
      </p:sp>
      <p:sp>
        <p:nvSpPr>
          <p:cNvPr id="10" name="Text 8"/>
          <p:cNvSpPr/>
          <p:nvPr/>
        </p:nvSpPr>
        <p:spPr>
          <a:xfrm>
            <a:off x="6492240" y="3703320"/>
            <a:ext cx="4800600" cy="1920240"/>
          </a:xfrm>
          <a:prstGeom prst="rect">
            <a:avLst/>
          </a:prstGeom>
          <a:noFill/>
          <a:ln/>
        </p:spPr>
        <p:txBody>
          <a:bodyPr wrap="square" lIns="0" tIns="0" rIns="0" bIns="0" rtlCol="0" anchor="t"/>
          <a:lstStyle/>
          <a:p>
            <a:pPr indent="0" marL="0">
              <a:lnSpc>
                <a:spcPct val="108000"/>
              </a:lnSpc>
              <a:buNone/>
            </a:pPr>
            <a:r>
              <a:rPr lang="en-US" sz="1450" dirty="0">
                <a:solidFill>
                  <a:srgbClr val="E8EEF6"/>
                </a:solidFill>
                <a:latin typeface="Calibri" pitchFamily="34" charset="0"/>
                <a:ea typeface="Calibri" pitchFamily="34" charset="-122"/>
                <a:cs typeface="Calibri" pitchFamily="34" charset="-120"/>
              </a:rPr>
              <a:t>Start a BRAND-NEW chat. Snapshot your code and upload it:</a:t>
            </a:r>
            <a:endParaRPr lang="en-US" sz="1450" dirty="0"/>
          </a:p>
          <a:p>
            <a:pPr indent="0" marL="0">
              <a:lnSpc>
                <a:spcPct val="108000"/>
              </a:lnSpc>
              <a:buNone/>
            </a:pPr>
            <a:r>
              <a:rPr lang="en-US" sz="1200" dirty="0">
                <a:solidFill>
                  <a:srgbClr val="E8C77D"/>
                </a:solidFill>
                <a:latin typeface="Consolas" pitchFamily="34" charset="0"/>
                <a:ea typeface="Consolas" pitchFamily="34" charset="-122"/>
                <a:cs typeface="Consolas" pitchFamily="34" charset="-120"/>
              </a:rPr>
              <a:t>git archive -o proj-$(date +%Y%m%d).tar.gz HEAD</a:t>
            </a:r>
            <a:endParaRPr lang="en-US" sz="1450" dirty="0"/>
          </a:p>
          <a:p>
            <a:pPr indent="0" marL="0">
              <a:lnSpc>
                <a:spcPct val="108000"/>
              </a:lnSpc>
              <a:buNone/>
            </a:pPr>
            <a:r>
              <a:rPr lang="en-US" sz="1450" dirty="0">
                <a:solidFill>
                  <a:srgbClr val="E8EEF6"/>
                </a:solidFill>
                <a:latin typeface="Calibri" pitchFamily="34" charset="0"/>
                <a:ea typeface="Calibri" pitchFamily="34" charset="-122"/>
                <a:cs typeface="Calibri" pitchFamily="34" charset="-120"/>
              </a:rPr>
              <a:t>Then: “Read the latest close-out. Where are we, what's next?”</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22960" y="914400"/>
            <a:ext cx="10515600" cy="73152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Why this is ours to teach</a:t>
            </a:r>
            <a:endParaRPr lang="en-US" sz="3200" dirty="0"/>
          </a:p>
        </p:txBody>
      </p:sp>
      <p:sp>
        <p:nvSpPr>
          <p:cNvPr id="3" name="Text 1"/>
          <p:cNvSpPr/>
          <p:nvPr/>
        </p:nvSpPr>
        <p:spPr>
          <a:xfrm>
            <a:off x="822960" y="2011680"/>
            <a:ext cx="10515600" cy="1371600"/>
          </a:xfrm>
          <a:prstGeom prst="rect">
            <a:avLst/>
          </a:prstGeom>
          <a:noFill/>
          <a:ln/>
        </p:spPr>
        <p:txBody>
          <a:bodyPr wrap="square" rtlCol="0" anchor="ctr"/>
          <a:lstStyle/>
          <a:p>
            <a:pPr indent="0" marL="0">
              <a:lnSpc>
                <a:spcPct val="115000"/>
              </a:lnSpc>
              <a:buNone/>
            </a:pPr>
            <a:r>
              <a:rPr lang="en-US" sz="2200" dirty="0">
                <a:solidFill>
                  <a:srgbClr val="222B36"/>
                </a:solidFill>
                <a:latin typeface="Calibri" pitchFamily="34" charset="0"/>
                <a:ea typeface="Calibri" pitchFamily="34" charset="-122"/>
                <a:cs typeface="Calibri" pitchFamily="34" charset="-120"/>
              </a:rPr>
              <a:t>None of this is about being a programmer. It is about refusing to build on sand, insisting on ground truth before action, and writing down your reasoning so it outlives the moment.</a:t>
            </a:r>
            <a:endParaRPr lang="en-US" sz="2200" dirty="0"/>
          </a:p>
        </p:txBody>
      </p:sp>
      <p:sp>
        <p:nvSpPr>
          <p:cNvPr id="4" name="Text 2"/>
          <p:cNvSpPr/>
          <p:nvPr/>
        </p:nvSpPr>
        <p:spPr>
          <a:xfrm>
            <a:off x="822960" y="3474720"/>
            <a:ext cx="10515600" cy="640080"/>
          </a:xfrm>
          <a:prstGeom prst="rect">
            <a:avLst/>
          </a:prstGeom>
          <a:noFill/>
          <a:ln/>
        </p:spPr>
        <p:txBody>
          <a:bodyPr wrap="square" rtlCol="0" anchor="ctr"/>
          <a:lstStyle/>
          <a:p>
            <a:pPr indent="0" marL="0">
              <a:buNone/>
            </a:pPr>
            <a:r>
              <a:rPr lang="en-US" sz="2600" b="1" i="1" dirty="0">
                <a:solidFill>
                  <a:srgbClr val="8A6D3B"/>
                </a:solidFill>
                <a:latin typeface="Cambria" pitchFamily="34" charset="0"/>
                <a:ea typeface="Cambria" pitchFamily="34" charset="-122"/>
                <a:cs typeface="Cambria" pitchFamily="34" charset="-120"/>
              </a:rPr>
              <a:t>Judgment, in other words.</a:t>
            </a:r>
            <a:endParaRPr lang="en-US" sz="2600" dirty="0"/>
          </a:p>
        </p:txBody>
      </p:sp>
      <p:sp>
        <p:nvSpPr>
          <p:cNvPr id="5" name="Text 3"/>
          <p:cNvSpPr/>
          <p:nvPr/>
        </p:nvSpPr>
        <p:spPr>
          <a:xfrm>
            <a:off x="822960" y="4297680"/>
            <a:ext cx="10515600" cy="914400"/>
          </a:xfrm>
          <a:prstGeom prst="rect">
            <a:avLst/>
          </a:prstGeom>
          <a:noFill/>
          <a:ln/>
        </p:spPr>
        <p:txBody>
          <a:bodyPr wrap="square" rtlCol="0" anchor="ctr"/>
          <a:lstStyle/>
          <a:p>
            <a:pPr indent="0" marL="0">
              <a:lnSpc>
                <a:spcPct val="110000"/>
              </a:lnSpc>
              <a:buNone/>
            </a:pPr>
            <a:r>
              <a:rPr lang="en-US" sz="2000" dirty="0">
                <a:solidFill>
                  <a:srgbClr val="3A4A5A"/>
                </a:solidFill>
                <a:latin typeface="Calibri" pitchFamily="34" charset="0"/>
                <a:ea typeface="Calibri" pitchFamily="34" charset="-122"/>
                <a:cs typeface="Calibri" pitchFamily="34" charset="-120"/>
              </a:rPr>
              <a:t>A long working life is where judgment comes from. The tools have finally caught up to the people who have it.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822960" y="685800"/>
            <a:ext cx="105156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reversal</a:t>
            </a:r>
            <a:endParaRPr lang="en-US" sz="3200" dirty="0"/>
          </a:p>
        </p:txBody>
      </p:sp>
      <p:sp>
        <p:nvSpPr>
          <p:cNvPr id="3" name="Text 1"/>
          <p:cNvSpPr/>
          <p:nvPr/>
        </p:nvSpPr>
        <p:spPr>
          <a:xfrm>
            <a:off x="822960" y="1737360"/>
            <a:ext cx="10515600" cy="640080"/>
          </a:xfrm>
          <a:prstGeom prst="rect">
            <a:avLst/>
          </a:prstGeom>
          <a:noFill/>
          <a:ln/>
        </p:spPr>
        <p:txBody>
          <a:bodyPr wrap="square" rtlCol="0" anchor="ctr"/>
          <a:lstStyle/>
          <a:p>
            <a:pPr indent="0" marL="0">
              <a:lnSpc>
                <a:spcPct val="110000"/>
              </a:lnSpc>
              <a:buNone/>
            </a:pPr>
            <a:r>
              <a:rPr lang="en-US" sz="2200" dirty="0">
                <a:solidFill>
                  <a:srgbClr val="E8EEF6"/>
                </a:solidFill>
                <a:latin typeface="Calibri" pitchFamily="34" charset="0"/>
                <a:ea typeface="Calibri" pitchFamily="34" charset="-122"/>
                <a:cs typeface="Calibri" pitchFamily="34" charset="-120"/>
              </a:rPr>
              <a:t>Doing it right — the full discipline — used to be a luxury.</a:t>
            </a:r>
            <a:endParaRPr lang="en-US" sz="2200" dirty="0"/>
          </a:p>
        </p:txBody>
      </p:sp>
      <p:sp>
        <p:nvSpPr>
          <p:cNvPr id="4" name="Text 2"/>
          <p:cNvSpPr/>
          <p:nvPr/>
        </p:nvSpPr>
        <p:spPr>
          <a:xfrm>
            <a:off x="822960" y="2514600"/>
            <a:ext cx="10515600" cy="1280160"/>
          </a:xfrm>
          <a:prstGeom prst="rect">
            <a:avLst/>
          </a:prstGeom>
          <a:noFill/>
          <a:ln/>
        </p:spPr>
        <p:txBody>
          <a:bodyPr wrap="square" rtlCol="0" anchor="ctr"/>
          <a:lstStyle/>
          <a:p>
            <a:pPr indent="0" marL="0">
              <a:lnSpc>
                <a:spcPct val="115000"/>
              </a:lnSpc>
              <a:buNone/>
            </a:pPr>
            <a:r>
              <a:rPr lang="en-US" sz="1800" dirty="0">
                <a:solidFill>
                  <a:srgbClr val="CADCFC"/>
                </a:solidFill>
                <a:latin typeface="Calibri" pitchFamily="34" charset="0"/>
                <a:ea typeface="Calibri" pitchFamily="34" charset="-122"/>
                <a:cs typeface="Calibri" pitchFamily="34" charset="-120"/>
              </a:rPr>
              <a:t>Writing the tests first. Documenting the decision. Setting up the gate on day one. It all cost senior-engineer hours a deadline wouldn’t spend — so it got skipped. The skip was almost rational.</a:t>
            </a:r>
            <a:endParaRPr lang="en-US" sz="1800" dirty="0"/>
          </a:p>
        </p:txBody>
      </p:sp>
      <p:sp>
        <p:nvSpPr>
          <p:cNvPr id="5" name="Text 3"/>
          <p:cNvSpPr/>
          <p:nvPr/>
        </p:nvSpPr>
        <p:spPr>
          <a:xfrm>
            <a:off x="822960" y="3931920"/>
            <a:ext cx="10515600" cy="548640"/>
          </a:xfrm>
          <a:prstGeom prst="rect">
            <a:avLst/>
          </a:prstGeom>
          <a:noFill/>
          <a:ln/>
        </p:spPr>
        <p:txBody>
          <a:bodyPr wrap="square" rtlCol="0" anchor="ctr"/>
          <a:lstStyle/>
          <a:p>
            <a:pPr indent="0" marL="0">
              <a:buNone/>
            </a:pPr>
            <a:r>
              <a:rPr lang="en-US" sz="2600" b="1" i="1" dirty="0">
                <a:solidFill>
                  <a:srgbClr val="E8C77D"/>
                </a:solidFill>
                <a:latin typeface="Cambria" pitchFamily="34" charset="0"/>
                <a:ea typeface="Cambria" pitchFamily="34" charset="-122"/>
                <a:cs typeface="Cambria" pitchFamily="34" charset="-120"/>
              </a:rPr>
              <a:t>Not anymore.</a:t>
            </a:r>
            <a:endParaRPr lang="en-US" sz="2600" dirty="0"/>
          </a:p>
        </p:txBody>
      </p:sp>
      <p:sp>
        <p:nvSpPr>
          <p:cNvPr id="6" name="Text 4"/>
          <p:cNvSpPr/>
          <p:nvPr/>
        </p:nvSpPr>
        <p:spPr>
          <a:xfrm>
            <a:off x="822960" y="4617720"/>
            <a:ext cx="10515600" cy="1280160"/>
          </a:xfrm>
          <a:prstGeom prst="rect">
            <a:avLst/>
          </a:prstGeom>
          <a:noFill/>
          <a:ln/>
        </p:spPr>
        <p:txBody>
          <a:bodyPr wrap="square" rtlCol="0" anchor="ctr"/>
          <a:lstStyle/>
          <a:p>
            <a:pPr indent="0" marL="0">
              <a:lnSpc>
                <a:spcPct val="115000"/>
              </a:lnSpc>
              <a:buNone/>
            </a:pPr>
            <a:r>
              <a:rPr lang="en-US" sz="1900" dirty="0">
                <a:solidFill>
                  <a:srgbClr val="E8EEF6"/>
                </a:solidFill>
                <a:latin typeface="Calibri" pitchFamily="34" charset="0"/>
                <a:ea typeface="Calibri" pitchFamily="34" charset="-122"/>
                <a:cs typeface="Calibri" pitchFamily="34" charset="-120"/>
              </a:rPr>
              <a:t>The AI scaffolds the tests in a minute, writes them from your design, drafts the close-out for free. The cost of the discipline just collapsed toward zero — while its value stayed exactly as high.</a:t>
            </a:r>
            <a:endParaRPr lang="en-US" sz="1900" dirty="0"/>
          </a:p>
        </p:txBody>
      </p:sp>
      <p:sp>
        <p:nvSpPr>
          <p:cNvPr id="7" name="Text 5"/>
          <p:cNvSpPr/>
          <p:nvPr/>
        </p:nvSpPr>
        <p:spPr>
          <a:xfrm>
            <a:off x="822960" y="5943600"/>
            <a:ext cx="10515600" cy="640080"/>
          </a:xfrm>
          <a:prstGeom prst="rect">
            <a:avLst/>
          </a:prstGeom>
          <a:noFill/>
          <a:ln/>
        </p:spPr>
        <p:txBody>
          <a:bodyPr wrap="square" rtlCol="0" anchor="ctr"/>
          <a:lstStyle/>
          <a:p>
            <a:pPr algn="ctr" indent="0" marL="0">
              <a:buNone/>
            </a:pPr>
            <a:r>
              <a:rPr lang="en-US" sz="1900" b="1" i="1" dirty="0">
                <a:solidFill>
                  <a:srgbClr val="FFFFFF"/>
                </a:solidFill>
                <a:latin typeface="Cambria" pitchFamily="34" charset="0"/>
                <a:ea typeface="Cambria" pitchFamily="34" charset="-122"/>
                <a:cs typeface="Cambria" pitchFamily="34" charset="-120"/>
              </a:rPr>
              <a:t>Most people are using AI to skip the discipline faster. You can finally afford to keep it.</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822960"/>
          </a:xfrm>
          <a:prstGeom prst="rect">
            <a:avLst/>
          </a:prstGeom>
          <a:noFill/>
          <a:ln/>
        </p:spPr>
        <p:txBody>
          <a:bodyPr wrap="square"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Why this works where corporate process dies</a:t>
            </a:r>
            <a:endParaRPr lang="en-US" sz="3000" dirty="0"/>
          </a:p>
        </p:txBody>
      </p:sp>
      <p:sp>
        <p:nvSpPr>
          <p:cNvPr id="3" name="Shape 1"/>
          <p:cNvSpPr/>
          <p:nvPr/>
        </p:nvSpPr>
        <p:spPr>
          <a:xfrm>
            <a:off x="640080" y="1508760"/>
            <a:ext cx="5257800" cy="3566160"/>
          </a:xfrm>
          <a:prstGeom prst="rect">
            <a:avLst/>
          </a:prstGeom>
          <a:solidFill>
            <a:srgbClr val="F4F1EA"/>
          </a:solidFill>
          <a:ln/>
        </p:spPr>
      </p:sp>
      <p:sp>
        <p:nvSpPr>
          <p:cNvPr id="4" name="Text 2"/>
          <p:cNvSpPr/>
          <p:nvPr/>
        </p:nvSpPr>
        <p:spPr>
          <a:xfrm>
            <a:off x="868680" y="1737360"/>
            <a:ext cx="4800600" cy="365760"/>
          </a:xfrm>
          <a:prstGeom prst="rect">
            <a:avLst/>
          </a:prstGeom>
          <a:noFill/>
          <a:ln/>
        </p:spPr>
        <p:txBody>
          <a:bodyPr wrap="square" lIns="0" tIns="0" rIns="0" bIns="0" rtlCol="0" anchor="ctr"/>
          <a:lstStyle/>
          <a:p>
            <a:pPr indent="0" marL="0">
              <a:buNone/>
            </a:pPr>
            <a:r>
              <a:rPr lang="en-US" sz="1400" b="1" spc="100" kern="0" dirty="0">
                <a:solidFill>
                  <a:srgbClr val="6B7280"/>
                </a:solidFill>
                <a:latin typeface="Calibri" pitchFamily="34" charset="0"/>
                <a:ea typeface="Calibri" pitchFamily="34" charset="-122"/>
                <a:cs typeface="Calibri" pitchFamily="34" charset="-120"/>
              </a:rPr>
              <a:t>PROCESS DONE TO YOU</a:t>
            </a:r>
            <a:endParaRPr lang="en-US" sz="1400" dirty="0"/>
          </a:p>
        </p:txBody>
      </p:sp>
      <p:sp>
        <p:nvSpPr>
          <p:cNvPr id="5" name="Text 3"/>
          <p:cNvSpPr/>
          <p:nvPr/>
        </p:nvSpPr>
        <p:spPr>
          <a:xfrm>
            <a:off x="868680" y="2194560"/>
            <a:ext cx="4800600" cy="2651760"/>
          </a:xfrm>
          <a:prstGeom prst="rect">
            <a:avLst/>
          </a:prstGeom>
          <a:noFill/>
          <a:ln/>
        </p:spPr>
        <p:txBody>
          <a:bodyPr wrap="square" lIns="0" tIns="0" rIns="0" bIns="0" rtlCol="0" anchor="t"/>
          <a:lstStyle/>
          <a:p>
            <a:pPr indent="0" marL="0">
              <a:lnSpc>
                <a:spcPct val="110000"/>
              </a:lnSpc>
              <a:buNone/>
            </a:pPr>
            <a:r>
              <a:rPr lang="en-US" sz="1600" dirty="0">
                <a:solidFill>
                  <a:srgbClr val="3A4A5A"/>
                </a:solidFill>
                <a:latin typeface="Calibri" pitchFamily="34" charset="0"/>
                <a:ea typeface="Calibri" pitchFamily="34" charset="-122"/>
                <a:cs typeface="Calibri" pitchFamily="34" charset="-120"/>
              </a:rPr>
              <a:t>In a big company, “process” becomes ceremony:</a:t>
            </a:r>
            <a:endParaRPr lang="en-US" sz="1600" dirty="0"/>
          </a:p>
          <a:p>
            <a:pPr indent="0" marL="0">
              <a:lnSpc>
                <a:spcPct val="110000"/>
              </a:lnSpc>
              <a:buNone/>
            </a:pPr>
            <a:endParaRPr lang="en-US" sz="1600" dirty="0"/>
          </a:p>
          <a:p>
            <a:pPr indent="0" marL="0">
              <a:lnSpc>
                <a:spcPct val="110000"/>
              </a:lnSpc>
              <a:buNone/>
            </a:pPr>
            <a:r>
              <a:rPr lang="en-US" sz="1600" dirty="0">
                <a:solidFill>
                  <a:srgbClr val="3A4A5A"/>
                </a:solidFill>
                <a:latin typeface="Calibri" pitchFamily="34" charset="0"/>
                <a:ea typeface="Calibri" pitchFamily="34" charset="-122"/>
                <a:cs typeface="Calibri" pitchFamily="34" charset="-120"/>
              </a:rPr>
              <a:t>sign-off gates, mandatory fields, rituals nobody believes in — rules imposed from above.</a:t>
            </a:r>
            <a:endParaRPr lang="en-US" sz="1600" dirty="0"/>
          </a:p>
          <a:p>
            <a:pPr indent="0" marL="0">
              <a:lnSpc>
                <a:spcPct val="110000"/>
              </a:lnSpc>
              <a:buNone/>
            </a:pPr>
            <a:endParaRPr lang="en-US" sz="1600" dirty="0"/>
          </a:p>
          <a:p>
            <a:pPr indent="0" marL="0">
              <a:lnSpc>
                <a:spcPct val="110000"/>
              </a:lnSpc>
              <a:buNone/>
            </a:pPr>
            <a:r>
              <a:rPr lang="en-US" sz="1600" i="1" dirty="0">
                <a:solidFill>
                  <a:srgbClr val="6B7280"/>
                </a:solidFill>
                <a:latin typeface="Calibri" pitchFamily="34" charset="0"/>
                <a:ea typeface="Calibri" pitchFamily="34" charset="-122"/>
                <a:cs typeface="Calibri" pitchFamily="34" charset="-120"/>
              </a:rPr>
              <a:t>So people comply, or quietly route around it.</a:t>
            </a:r>
            <a:endParaRPr lang="en-US" sz="1600" dirty="0"/>
          </a:p>
        </p:txBody>
      </p:sp>
      <p:sp>
        <p:nvSpPr>
          <p:cNvPr id="6" name="Shape 4"/>
          <p:cNvSpPr/>
          <p:nvPr/>
        </p:nvSpPr>
        <p:spPr>
          <a:xfrm>
            <a:off x="6263640" y="1508760"/>
            <a:ext cx="5257800" cy="3566160"/>
          </a:xfrm>
          <a:prstGeom prst="rect">
            <a:avLst/>
          </a:prstGeom>
          <a:solidFill>
            <a:srgbClr val="1F3A5F"/>
          </a:solidFill>
          <a:ln/>
        </p:spPr>
      </p:sp>
      <p:sp>
        <p:nvSpPr>
          <p:cNvPr id="7" name="Text 5"/>
          <p:cNvSpPr/>
          <p:nvPr/>
        </p:nvSpPr>
        <p:spPr>
          <a:xfrm>
            <a:off x="6492240" y="1737360"/>
            <a:ext cx="4800600" cy="365760"/>
          </a:xfrm>
          <a:prstGeom prst="rect">
            <a:avLst/>
          </a:prstGeom>
          <a:noFill/>
          <a:ln/>
        </p:spPr>
        <p:txBody>
          <a:bodyPr wrap="square" lIns="0" tIns="0" rIns="0" bIns="0" rtlCol="0" anchor="ctr"/>
          <a:lstStyle/>
          <a:p>
            <a:pPr indent="0" marL="0">
              <a:buNone/>
            </a:pPr>
            <a:r>
              <a:rPr lang="en-US" sz="1400" b="1" spc="100" kern="0" dirty="0">
                <a:solidFill>
                  <a:srgbClr val="E8C77D"/>
                </a:solidFill>
                <a:latin typeface="Calibri" pitchFamily="34" charset="0"/>
                <a:ea typeface="Calibri" pitchFamily="34" charset="-122"/>
                <a:cs typeface="Calibri" pitchFamily="34" charset="-120"/>
              </a:rPr>
              <a:t>PROCESS YOU RUN FOR YOURSELF</a:t>
            </a:r>
            <a:endParaRPr lang="en-US" sz="1400" dirty="0"/>
          </a:p>
        </p:txBody>
      </p:sp>
      <p:sp>
        <p:nvSpPr>
          <p:cNvPr id="8" name="Text 6"/>
          <p:cNvSpPr/>
          <p:nvPr/>
        </p:nvSpPr>
        <p:spPr>
          <a:xfrm>
            <a:off x="6492240" y="2194560"/>
            <a:ext cx="4800600" cy="2651760"/>
          </a:xfrm>
          <a:prstGeom prst="rect">
            <a:avLst/>
          </a:prstGeom>
          <a:noFill/>
          <a:ln/>
        </p:spPr>
        <p:txBody>
          <a:bodyPr wrap="square" lIns="0" tIns="0" rIns="0" bIns="0" rtlCol="0" anchor="t"/>
          <a:lstStyle/>
          <a:p>
            <a:pPr indent="0" marL="0">
              <a:lnSpc>
                <a:spcPct val="110000"/>
              </a:lnSpc>
              <a:buNone/>
            </a:pPr>
            <a:r>
              <a:rPr lang="en-US" sz="1600" b="1" dirty="0">
                <a:solidFill>
                  <a:srgbClr val="FFFFFF"/>
                </a:solidFill>
                <a:latin typeface="Calibri" pitchFamily="34" charset="0"/>
                <a:ea typeface="Calibri" pitchFamily="34" charset="-122"/>
                <a:cs typeface="Calibri" pitchFamily="34" charset="-120"/>
              </a:rPr>
              <a:t>Every principle in KEEL has a scar under it.</a:t>
            </a:r>
            <a:endParaRPr lang="en-US" sz="1600" dirty="0"/>
          </a:p>
          <a:p>
            <a:pPr indent="0" marL="0">
              <a:lnSpc>
                <a:spcPct val="110000"/>
              </a:lnSpc>
              <a:buNone/>
            </a:pPr>
            <a:endParaRPr lang="en-US" sz="1600" dirty="0"/>
          </a:p>
          <a:p>
            <a:pPr indent="0" marL="0">
              <a:lnSpc>
                <a:spcPct val="110000"/>
              </a:lnSpc>
              <a:buNone/>
            </a:pPr>
            <a:r>
              <a:rPr lang="en-US" sz="1600" dirty="0">
                <a:solidFill>
                  <a:srgbClr val="E8EEF6"/>
                </a:solidFill>
                <a:latin typeface="Calibri" pitchFamily="34" charset="0"/>
                <a:ea typeface="Calibri" pitchFamily="34" charset="-122"/>
                <a:cs typeface="Calibri" pitchFamily="34" charset="-120"/>
              </a:rPr>
              <a:t>You follow the one-copy rule because you’ve lost a feature to a vanished folder. You lay the gate because you’ve shipped a break.</a:t>
            </a:r>
            <a:endParaRPr lang="en-US" sz="1600" dirty="0"/>
          </a:p>
          <a:p>
            <a:pPr indent="0" marL="0">
              <a:lnSpc>
                <a:spcPct val="110000"/>
              </a:lnSpc>
              <a:buNone/>
            </a:pPr>
            <a:endParaRPr lang="en-US" sz="1600" dirty="0"/>
          </a:p>
          <a:p>
            <a:pPr indent="0" marL="0">
              <a:lnSpc>
                <a:spcPct val="110000"/>
              </a:lnSpc>
              <a:buNone/>
            </a:pPr>
            <a:r>
              <a:rPr lang="en-US" sz="1600" i="1" dirty="0">
                <a:solidFill>
                  <a:srgbClr val="E8C77D"/>
                </a:solidFill>
                <a:latin typeface="Calibri" pitchFamily="34" charset="0"/>
                <a:ea typeface="Calibri" pitchFamily="34" charset="-122"/>
                <a:cs typeface="Calibri" pitchFamily="34" charset="-120"/>
              </a:rPr>
              <a:t>Not compliance — self-interest, made legible.</a:t>
            </a:r>
            <a:endParaRPr lang="en-US" sz="1600" dirty="0"/>
          </a:p>
        </p:txBody>
      </p:sp>
      <p:sp>
        <p:nvSpPr>
          <p:cNvPr id="9" name="Text 7"/>
          <p:cNvSpPr/>
          <p:nvPr/>
        </p:nvSpPr>
        <p:spPr>
          <a:xfrm>
            <a:off x="640080" y="5349240"/>
            <a:ext cx="10881360" cy="731520"/>
          </a:xfrm>
          <a:prstGeom prst="rect">
            <a:avLst/>
          </a:prstGeom>
          <a:noFill/>
          <a:ln/>
        </p:spPr>
        <p:txBody>
          <a:bodyPr wrap="square" rtlCol="0" anchor="ctr"/>
          <a:lstStyle/>
          <a:p>
            <a:pPr algn="ctr" indent="0" marL="0">
              <a:buNone/>
            </a:pPr>
            <a:r>
              <a:rPr lang="en-US" sz="2000" b="1" i="1" dirty="0">
                <a:solidFill>
                  <a:srgbClr val="1F3A5F"/>
                </a:solidFill>
                <a:latin typeface="Cambria" pitchFamily="34" charset="0"/>
                <a:ea typeface="Cambria" pitchFamily="34" charset="-122"/>
                <a:cs typeface="Cambria" pitchFamily="34" charset="-120"/>
              </a:rPr>
              <a:t>It gets followed because each step visibly saves you from a pain you have actually felt.</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22960" y="685800"/>
            <a:ext cx="10515600" cy="731520"/>
          </a:xfrm>
          <a:prstGeom prst="rect">
            <a:avLst/>
          </a:prstGeom>
          <a:noFill/>
          <a:ln/>
        </p:spPr>
        <p:txBody>
          <a:bodyPr wrap="square"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The honest part</a:t>
            </a:r>
            <a:endParaRPr lang="en-US" sz="3000" dirty="0"/>
          </a:p>
        </p:txBody>
      </p:sp>
      <p:sp>
        <p:nvSpPr>
          <p:cNvPr id="3" name="Text 1"/>
          <p:cNvSpPr/>
          <p:nvPr/>
        </p:nvSpPr>
        <p:spPr>
          <a:xfrm>
            <a:off x="822960" y="1783080"/>
            <a:ext cx="10515600" cy="640080"/>
          </a:xfrm>
          <a:prstGeom prst="rect">
            <a:avLst/>
          </a:prstGeom>
          <a:noFill/>
          <a:ln/>
        </p:spPr>
        <p:txBody>
          <a:bodyPr wrap="square" rtlCol="0" anchor="ctr"/>
          <a:lstStyle/>
          <a:p>
            <a:pPr indent="0" marL="0">
              <a:buNone/>
            </a:pPr>
            <a:r>
              <a:rPr lang="en-US" sz="2300" b="1" dirty="0">
                <a:solidFill>
                  <a:srgbClr val="222B36"/>
                </a:solidFill>
                <a:latin typeface="Calibri" pitchFamily="34" charset="0"/>
                <a:ea typeface="Calibri" pitchFamily="34" charset="-122"/>
                <a:cs typeface="Calibri" pitchFamily="34" charset="-120"/>
              </a:rPr>
              <a:t>This pattern is proven on ONE real system.</a:t>
            </a:r>
            <a:endParaRPr lang="en-US" sz="2300" dirty="0"/>
          </a:p>
        </p:txBody>
      </p:sp>
      <p:sp>
        <p:nvSpPr>
          <p:cNvPr id="4" name="Text 2"/>
          <p:cNvSpPr/>
          <p:nvPr/>
        </p:nvSpPr>
        <p:spPr>
          <a:xfrm>
            <a:off x="822960" y="2514600"/>
            <a:ext cx="10515600" cy="1371600"/>
          </a:xfrm>
          <a:prstGeom prst="rect">
            <a:avLst/>
          </a:prstGeom>
          <a:noFill/>
          <a:ln/>
        </p:spPr>
        <p:txBody>
          <a:bodyPr wrap="square" rtlCol="0" anchor="ctr"/>
          <a:lstStyle/>
          <a:p>
            <a:pPr indent="0" marL="0">
              <a:lnSpc>
                <a:spcPct val="118000"/>
              </a:lnSpc>
              <a:buNone/>
            </a:pPr>
            <a:r>
              <a:rPr lang="en-US" sz="1800" dirty="0">
                <a:solidFill>
                  <a:srgbClr val="3A4A5A"/>
                </a:solidFill>
                <a:latin typeface="Calibri" pitchFamily="34" charset="0"/>
                <a:ea typeface="Calibri" pitchFamily="34" charset="-122"/>
                <a:cs typeface="Calibri" pitchFamily="34" charset="-120"/>
              </a:rPr>
              <a:t>A live, deployed, multi-service application — a real bug fixed, a new subsystem shipped, all run through the gate. That is genuine evidence, not theory. But it is one project, with one person as the whole team.</a:t>
            </a:r>
            <a:endParaRPr lang="en-US" sz="1800" dirty="0"/>
          </a:p>
        </p:txBody>
      </p:sp>
      <p:sp>
        <p:nvSpPr>
          <p:cNvPr id="5" name="Text 3"/>
          <p:cNvSpPr/>
          <p:nvPr/>
        </p:nvSpPr>
        <p:spPr>
          <a:xfrm>
            <a:off x="822960" y="4023360"/>
            <a:ext cx="10515600" cy="1280160"/>
          </a:xfrm>
          <a:prstGeom prst="rect">
            <a:avLst/>
          </a:prstGeom>
          <a:noFill/>
          <a:ln/>
        </p:spPr>
        <p:txBody>
          <a:bodyPr wrap="square" rtlCol="0" anchor="ctr"/>
          <a:lstStyle/>
          <a:p>
            <a:pPr indent="0" marL="0">
              <a:lnSpc>
                <a:spcPct val="118000"/>
              </a:lnSpc>
              <a:buNone/>
            </a:pPr>
            <a:r>
              <a:rPr lang="en-US" sz="1800" dirty="0">
                <a:solidFill>
                  <a:srgbClr val="3A4A5A"/>
                </a:solidFill>
                <a:latin typeface="Calibri" pitchFamily="34" charset="0"/>
                <a:ea typeface="Calibri" pitchFamily="34" charset="-122"/>
                <a:cs typeface="Calibri" pitchFamily="34" charset="-120"/>
              </a:rPr>
              <a:t>The next projects are where it meets friction it wasn’t designed around — an existing codebase, its accumulated mess. That’s not a reason to doubt it. It’s the reason we prove it twice before calling it settled.</a:t>
            </a:r>
            <a:endParaRPr lang="en-US" sz="1800" dirty="0"/>
          </a:p>
        </p:txBody>
      </p:sp>
      <p:sp>
        <p:nvSpPr>
          <p:cNvPr id="6" name="Text 4"/>
          <p:cNvSpPr/>
          <p:nvPr/>
        </p:nvSpPr>
        <p:spPr>
          <a:xfrm>
            <a:off x="822960" y="5532120"/>
            <a:ext cx="10515600" cy="640080"/>
          </a:xfrm>
          <a:prstGeom prst="rect">
            <a:avLst/>
          </a:prstGeom>
          <a:noFill/>
          <a:ln/>
        </p:spPr>
        <p:txBody>
          <a:bodyPr wrap="square" rtlCol="0" anchor="ctr"/>
          <a:lstStyle/>
          <a:p>
            <a:pPr algn="ctr" indent="0" marL="0">
              <a:buNone/>
            </a:pPr>
            <a:r>
              <a:rPr lang="en-US" sz="2000" b="1" i="1" dirty="0">
                <a:solidFill>
                  <a:srgbClr val="8A6D3B"/>
                </a:solidFill>
                <a:latin typeface="Cambria" pitchFamily="34" charset="0"/>
                <a:ea typeface="Cambria" pitchFamily="34" charset="-122"/>
                <a:cs typeface="Cambria" pitchFamily="34" charset="-120"/>
              </a:rPr>
              <a:t>Battle-tested on one system. Being validated on more. Taught as exactly that.</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22960" y="777240"/>
            <a:ext cx="10515600" cy="731520"/>
          </a:xfrm>
          <a:prstGeom prst="rect">
            <a:avLst/>
          </a:prstGeom>
          <a:noFill/>
          <a:ln/>
        </p:spPr>
        <p:txBody>
          <a:bodyPr wrap="square"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What that means — for you</a:t>
            </a:r>
            <a:endParaRPr lang="en-US" sz="3200" dirty="0"/>
          </a:p>
        </p:txBody>
      </p:sp>
      <p:sp>
        <p:nvSpPr>
          <p:cNvPr id="3" name="Text 1"/>
          <p:cNvSpPr/>
          <p:nvPr/>
        </p:nvSpPr>
        <p:spPr>
          <a:xfrm>
            <a:off x="822960" y="1965960"/>
            <a:ext cx="10515600" cy="1828800"/>
          </a:xfrm>
          <a:prstGeom prst="rect">
            <a:avLst/>
          </a:prstGeom>
          <a:noFill/>
          <a:ln/>
        </p:spPr>
        <p:txBody>
          <a:bodyPr wrap="square" rtlCol="0" anchor="ctr"/>
          <a:lstStyle/>
          <a:p>
            <a:pPr indent="0" marL="0">
              <a:lnSpc>
                <a:spcPct val="125000"/>
              </a:lnSpc>
              <a:buNone/>
            </a:pPr>
            <a:r>
              <a:rPr lang="en-US" sz="2400" dirty="0">
                <a:solidFill>
                  <a:srgbClr val="222B36"/>
                </a:solidFill>
                <a:latin typeface="Calibri" pitchFamily="34" charset="0"/>
                <a:ea typeface="Calibri" pitchFamily="34" charset="-122"/>
                <a:cs typeface="Calibri" pitchFamily="34" charset="-120"/>
              </a:rPr>
              <a:t>Because the economics reversed, a person of sixty — with the judgment a long working life builds — is now as fit, or more fit, than any peer to carry an idea all the way to a working application. One that is stable. One that lasts.</a:t>
            </a:r>
            <a:endParaRPr lang="en-US" sz="2400" dirty="0"/>
          </a:p>
        </p:txBody>
      </p:sp>
      <p:sp>
        <p:nvSpPr>
          <p:cNvPr id="4" name="Text 2"/>
          <p:cNvSpPr/>
          <p:nvPr/>
        </p:nvSpPr>
        <p:spPr>
          <a:xfrm>
            <a:off x="822960" y="4160520"/>
            <a:ext cx="10515600" cy="1005840"/>
          </a:xfrm>
          <a:prstGeom prst="rect">
            <a:avLst/>
          </a:prstGeom>
          <a:noFill/>
          <a:ln/>
        </p:spPr>
        <p:txBody>
          <a:bodyPr wrap="square" rtlCol="0" anchor="ctr"/>
          <a:lstStyle/>
          <a:p>
            <a:pPr indent="0" marL="0">
              <a:lnSpc>
                <a:spcPct val="112000"/>
              </a:lnSpc>
              <a:buNone/>
            </a:pPr>
            <a:r>
              <a:rPr lang="en-US" sz="2300" b="1" i="1" dirty="0">
                <a:solidFill>
                  <a:srgbClr val="8A6D3B"/>
                </a:solidFill>
                <a:latin typeface="Cambria" pitchFamily="34" charset="0"/>
                <a:ea typeface="Cambria" pitchFamily="34" charset="-122"/>
                <a:cs typeface="Cambria" pitchFamily="34" charset="-120"/>
              </a:rPr>
              <a:t>The tools stopped rewarding the fastest hands. They started rewarding the soundest judgment.</a:t>
            </a:r>
            <a:endParaRPr lang="en-US" sz="2300" dirty="0"/>
          </a:p>
        </p:txBody>
      </p:sp>
      <p:sp>
        <p:nvSpPr>
          <p:cNvPr id="5" name="Text 3"/>
          <p:cNvSpPr/>
          <p:nvPr/>
        </p:nvSpPr>
        <p:spPr>
          <a:xfrm>
            <a:off x="822960" y="5440680"/>
            <a:ext cx="10515600" cy="731520"/>
          </a:xfrm>
          <a:prstGeom prst="rect">
            <a:avLst/>
          </a:prstGeom>
          <a:noFill/>
          <a:ln/>
        </p:spPr>
        <p:txBody>
          <a:bodyPr wrap="square" rtlCol="0" anchor="ctr"/>
          <a:lstStyle/>
          <a:p>
            <a:pPr indent="0" marL="0">
              <a:buNone/>
            </a:pPr>
            <a:r>
              <a:rPr lang="en-US" sz="2400" b="1" dirty="0">
                <a:solidFill>
                  <a:srgbClr val="1F3A5F"/>
                </a:solidFill>
                <a:latin typeface="Cambria" pitchFamily="34" charset="0"/>
                <a:ea typeface="Cambria" pitchFamily="34" charset="-122"/>
                <a:cs typeface="Cambria" pitchFamily="34" charset="-120"/>
              </a:rPr>
              <a:t>That was never the young engineer’s edge. It is yours.</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3A5F"/>
        </a:solidFill>
      </p:bgPr>
    </p:bg>
    <p:spTree>
      <p:nvGrpSpPr>
        <p:cNvPr id="1" name=""/>
        <p:cNvGrpSpPr/>
        <p:nvPr/>
      </p:nvGrpSpPr>
      <p:grpSpPr>
        <a:xfrm>
          <a:off x="0" y="0"/>
          <a:ext cx="0" cy="0"/>
          <a:chOff x="0" y="0"/>
          <a:chExt cx="0" cy="0"/>
        </a:xfrm>
      </p:grpSpPr>
      <p:sp>
        <p:nvSpPr>
          <p:cNvPr id="3" name="Shape 0"/>
          <p:cNvSpPr/>
          <p:nvPr/>
        </p:nvSpPr>
        <p:spPr>
          <a:xfrm>
            <a:off x="0" y="0"/>
            <a:ext cx="12161520" cy="6858000"/>
          </a:xfrm>
          <a:prstGeom prst="rect">
            <a:avLst/>
          </a:prstGeom>
          <a:solidFill>
            <a:srgbClr val="1F3A5F"/>
          </a:solidFill>
          <a:ln/>
        </p:spPr>
      </p:sp>
      <p:sp>
        <p:nvSpPr>
          <p:cNvPr id="4" name="Text 1"/>
          <p:cNvSpPr/>
          <p:nvPr/>
        </p:nvSpPr>
        <p:spPr>
          <a:xfrm>
            <a:off x="822960" y="2194560"/>
            <a:ext cx="10515600" cy="1737360"/>
          </a:xfrm>
          <a:prstGeom prst="rect">
            <a:avLst/>
          </a:prstGeom>
          <a:noFill/>
          <a:ln/>
        </p:spPr>
        <p:txBody>
          <a:bodyPr wrap="square"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Lay the Keel first.</a:t>
            </a:r>
            <a:endParaRPr lang="en-US" sz="4600" dirty="0"/>
          </a:p>
        </p:txBody>
      </p:sp>
      <p:sp>
        <p:nvSpPr>
          <p:cNvPr id="5" name="Text 2"/>
          <p:cNvSpPr/>
          <p:nvPr/>
        </p:nvSpPr>
        <p:spPr>
          <a:xfrm>
            <a:off x="822960" y="4114800"/>
            <a:ext cx="10058400" cy="1097280"/>
          </a:xfrm>
          <a:prstGeom prst="rect">
            <a:avLst/>
          </a:prstGeom>
          <a:noFill/>
          <a:ln/>
        </p:spPr>
        <p:txBody>
          <a:bodyPr wrap="square" rtlCol="0" anchor="ctr"/>
          <a:lstStyle/>
          <a:p>
            <a:pPr indent="0" marL="0">
              <a:lnSpc>
                <a:spcPct val="105000"/>
              </a:lnSpc>
              <a:buNone/>
            </a:pPr>
            <a:r>
              <a:rPr lang="en-US" sz="2000" i="1" dirty="0">
                <a:solidFill>
                  <a:srgbClr val="CADCFC"/>
                </a:solidFill>
                <a:latin typeface="Calibri" pitchFamily="34" charset="0"/>
                <a:ea typeface="Calibri" pitchFamily="34" charset="-122"/>
                <a:cs typeface="Calibri" pitchFamily="34" charset="-120"/>
              </a:rPr>
              <a:t>Then go build the thing you have been waiting your whole career to build.</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2026-07-16T20:44:16Z</dcterms:created>
  <dcterms:modified xsi:type="dcterms:W3CDTF">2026-07-16T20:44:16Z</dcterms:modified>
</cp:coreProperties>
</file>